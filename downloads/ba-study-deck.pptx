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Analyst Free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 free study lab.</a:t>
            </a:r>
          </a:p>
          <a:p>
            <a:pPr>
              <a:defRPr sz="1800"/>
            </a:pPr>
            <a:r>
              <a:t>Fundamentals through credentials.</a:t>
            </a:r>
          </a:p>
          <a:p>
            <a:pPr>
              <a:defRPr sz="1800"/>
            </a:pPr>
            <a:r>
              <a:t>Fees are cited. Unknowns stay unknown.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Start with the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Name the stakeholder.</a:t>
            </a:r>
          </a:p>
          <a:p>
            <a:pPr>
              <a:defRPr sz="1800"/>
            </a:pPr>
            <a:r>
              <a:t>Name the outcome.</a:t>
            </a:r>
          </a:p>
          <a:p>
            <a:pPr>
              <a:defRPr sz="1800"/>
            </a:pPr>
            <a:r>
              <a:t>A tool is not a need.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Six knowledge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Plan the analysis.</a:t>
            </a:r>
          </a:p>
          <a:p>
            <a:pPr>
              <a:defRPr sz="1800"/>
            </a:pPr>
            <a:r>
              <a:t>Elicit and confirm.</a:t>
            </a:r>
          </a:p>
          <a:p>
            <a:pPr>
              <a:defRPr sz="1800"/>
            </a:pPr>
            <a:r>
              <a:t>Trace and approve.</a:t>
            </a:r>
          </a:p>
          <a:p>
            <a:pPr>
              <a:defRPr sz="1800"/>
            </a:pPr>
            <a:r>
              <a:t>Strategy, requirements,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Make it testable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Story: role, capability, outcome.</a:t>
            </a:r>
          </a:p>
          <a:p>
            <a:pPr>
              <a:defRPr sz="1800"/>
            </a:pPr>
            <a:r>
              <a:t>Given, When, Then.</a:t>
            </a:r>
          </a:p>
          <a:p>
            <a:pPr>
              <a:defRPr sz="1800"/>
            </a:pPr>
            <a:r>
              <a:t>Trace to a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Pictures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BPMN for flow.</a:t>
            </a:r>
          </a:p>
          <a:p>
            <a:pPr>
              <a:defRPr sz="1800"/>
            </a:pPr>
            <a:r>
              <a:t>C4 for system context.</a:t>
            </a:r>
          </a:p>
          <a:p>
            <a:pPr>
              <a:defRPr sz="1800"/>
            </a:pPr>
            <a:r>
              <a:t>One question per drawing.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Read the fee cell.</a:t>
            </a:r>
          </a:p>
          <a:p>
            <a:pPr>
              <a:defRPr sz="1800"/>
            </a:pPr>
            <a:r>
              <a:t>Confirm on the official page.</a:t>
            </a:r>
          </a:p>
          <a:p>
            <a:pPr>
              <a:defRPr sz="1800"/>
            </a:pPr>
            <a:r>
              <a:t>This deck states no salaries.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Flashcards and a quiz live in the lab.</a:t>
            </a:r>
          </a:p>
          <a:p>
            <a:pPr>
              <a:defRPr sz="1800"/>
            </a:pPr>
            <a:r>
              <a:t>Scores stay in your browser.</a:t>
            </a:r>
          </a:p>
          <a:p>
            <a:pPr>
              <a:defRPr sz="1800"/>
            </a:pPr>
            <a:r>
              <a:t>Correct us via the contact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IIBA KnowledgeHub, including the BABOK Guide contents (standard). https://www.iiba.org/knowledgehub/ last checked 2026-10.</a:t>
            </a:r>
          </a:p>
          <a:p>
            <a:pPr>
              <a:defRPr sz="1400"/>
            </a:pPr>
            <a:r>
              <a:t>BABOK Guide article on the IIBA knowledge hub (standard). confirm. last checked 2026-10.</a:t>
            </a:r>
          </a:p>
          <a:p>
            <a:pPr>
              <a:defRPr sz="1400"/>
            </a:pPr>
            <a:r>
              <a:t>IIBA home (official). https://www.iiba.org/ last checked 2026-10.</a:t>
            </a:r>
          </a:p>
          <a:p>
            <a:pPr>
              <a:defRPr sz="1400"/>
            </a:pPr>
            <a:r>
              <a:t>Manifesto for Agile Software Development (standard). https://agilemanifesto.org/ last checked 2026-10.</a:t>
            </a:r>
          </a:p>
          <a:p>
            <a:pPr>
              <a:defRPr sz="1400"/>
            </a:pPr>
            <a:r>
              <a:t>Principles behind the Agile Manifesto (standard). https://agilemanifesto.org/principles.html last checked 2026-10.</a:t>
            </a:r>
          </a:p>
          <a:p>
            <a:pPr>
              <a:defRPr sz="1400"/>
            </a:pPr>
            <a:r>
              <a:t>OMG, about BPMN 2.0 (standard). https://www.omg.org/spec/BPMN/2.0/About-BPMN last checked 2026-10.</a:t>
            </a:r>
          </a:p>
          <a:p>
            <a:pPr>
              <a:defRPr sz="1400"/>
            </a:pPr>
            <a:r>
              <a:t>BPMN 2.0 specification PDF (standard). https://www.omg.org/spec/BPMN/2.0/PDF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OMG, about BPMN 2.0.2 (standard). https://www.omg.org/spec/BPMN/2.0.2/About-BPMN last checked 2026-10.</a:t>
            </a:r>
          </a:p>
          <a:p>
            <a:pPr>
              <a:defRPr sz="1400"/>
            </a:pPr>
            <a:r>
              <a:t>OMG, about UML 2.5.1 (standard). https://www.omg.org/spec/UML/2.5.1/About-UML last checked 2026-10.</a:t>
            </a:r>
          </a:p>
          <a:p>
            <a:pPr>
              <a:defRPr sz="1400"/>
            </a:pPr>
            <a:r>
              <a:t>UML 2.5.1 specification PDF (standard). https://www.omg.org/spec/UML/2.5.1/PDF last checked 2026-10.</a:t>
            </a:r>
          </a:p>
          <a:p>
            <a:pPr>
              <a:defRPr sz="1400"/>
            </a:pPr>
            <a:r>
              <a:t>IIBA membership (community). https://www.iiba.org/membership/ last checked 2026-10.</a:t>
            </a:r>
          </a:p>
          <a:p>
            <a:pPr>
              <a:defRPr sz="1400"/>
            </a:pPr>
            <a:r>
              <a:t>OMG managed communities (community). https://www.omg.org/communities/ last checked 2026-10.</a:t>
            </a:r>
          </a:p>
          <a:p>
            <a:pPr>
              <a:defRPr sz="1400"/>
            </a:pPr>
            <a:r>
              <a:t>About IIBA (official). https://www.iiba.org/about-iiba/ last checked 2026-10.</a:t>
            </a:r>
          </a:p>
          <a:p>
            <a:pPr>
              <a:defRPr sz="1400"/>
            </a:pPr>
            <a:r>
              <a:t>WCAG 2.2 recommendation (standard). https://www.w3.org/TR/WCAG22/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How to Meet WCAG, quick reference (official). https://www.w3.org/WAI/WCAG22/quickref/ last checked 2026-10.</a:t>
            </a:r>
          </a:p>
          <a:p>
            <a:pPr>
              <a:defRPr sz="1400"/>
            </a:pPr>
            <a:r>
              <a:t>Connect Customer feature overview (official). https://docs.aws.amazon.com/connect/latest/adminguide/connect-feature-overview.html last checked 2026-10.</a:t>
            </a:r>
          </a:p>
          <a:p>
            <a:pPr>
              <a:defRPr sz="1400"/>
            </a:pPr>
            <a:r>
              <a:t>Connect Customer metric definitions (official). https://docs.aws.amazon.com/connect/latest/adminguide/metrics-definitions.html last checked 2026-10.</a:t>
            </a:r>
          </a:p>
          <a:p>
            <a:pPr>
              <a:defRPr sz="1400"/>
            </a:pPr>
            <a:r>
              <a:t>AWS Prescriptive Guidance, project phases and workstreams (official). https://docs.aws.amazon.com/prescriptive-guidance/latest/strategy-migration-connect/workstreams.html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