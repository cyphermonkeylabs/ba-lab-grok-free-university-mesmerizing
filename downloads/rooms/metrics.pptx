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Contact-center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AHT, service level, abandonment, occupancy, first-contact resolution, and CSAT, with the formula that was opened.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Use the definition on the report's own page. On the Connect metric-definitions page, average handle time adds interaction, hold, after-contact work, and task pause, then averages the records that are not all null. Service level X is contacts removed from the queue inside X seconds divided by contacts queued, and removal includes an answer, an abandon, or a callback request. Abandonment is in-queue disconnects divided by contacts queued, and callbacks are not abandons. Occupancy is contact time over contact time plus idle time, and it ignores extra concurrent slots. First-contact resolution on that page is closed cases with exactly one call, chat, or email. IBM's CSAT page divides positive 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IIBA KnowledgeHub, including the BABOK Guide contents (standard). https://www.iiba.org/knowledgehub/ last checked 2026-10.</a:t>
            </a:r>
          </a:p>
          <a:p>
            <a:pPr>
              <a:defRPr sz="1400"/>
            </a:pPr>
            <a:r>
              <a:t>BABOK Guide article on the IIBA knowledge hub (standard). confirm. last checked 2026-10.</a:t>
            </a:r>
          </a:p>
          <a:p>
            <a:pPr>
              <a:defRPr sz="1400"/>
            </a:pPr>
            <a:r>
              <a:t>IIBA home (official). https://www.iiba.org/ last checked 2026-10.</a:t>
            </a:r>
          </a:p>
          <a:p>
            <a:pPr>
              <a:defRPr sz="1400"/>
            </a:pPr>
            <a:r>
              <a:t>Manifesto for Agile Software Development (standard). https://agilemanifesto.org/ last checked 2026-10.</a:t>
            </a:r>
          </a:p>
          <a:p>
            <a:pPr>
              <a:defRPr sz="1400"/>
            </a:pPr>
            <a:r>
              <a:t>Principles behind the Agile Manifesto (standard). https://agilemanifesto.org/principles.html last checked 2026-10.</a:t>
            </a:r>
          </a:p>
          <a:p>
            <a:pPr>
              <a:defRPr sz="1400"/>
            </a:pPr>
            <a:r>
              <a:t>OMG, about BPMN 2.0 (standard). https://www.omg.org/spec/BPMN/2.0/About-BPMN last checked 2026-10.</a:t>
            </a:r>
          </a:p>
          <a:p>
            <a:pPr>
              <a:defRPr sz="1400"/>
            </a:pPr>
            <a:r>
              <a:t>BPMN 2.0 specification PDF (standard). https://www.omg.org/spec/BPMN/2.0/PDF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OMG, about BPMN 2.0.2 (standard). https://www.omg.org/spec/BPMN/2.0.2/About-BPMN last checked 2026-10.</a:t>
            </a:r>
          </a:p>
          <a:p>
            <a:pPr>
              <a:defRPr sz="1400"/>
            </a:pPr>
            <a:r>
              <a:t>OMG, about UML 2.5.1 (standard). https://www.omg.org/spec/UML/2.5.1/About-UML last checked 2026-10.</a:t>
            </a:r>
          </a:p>
          <a:p>
            <a:pPr>
              <a:defRPr sz="1400"/>
            </a:pPr>
            <a:r>
              <a:t>UML 2.5.1 specification PDF (standard). https://www.omg.org/spec/UML/2.5.1/PDF last checked 2026-10.</a:t>
            </a:r>
          </a:p>
          <a:p>
            <a:pPr>
              <a:defRPr sz="1400"/>
            </a:pPr>
            <a:r>
              <a:t>IIBA membership (community). https://www.iiba.org/membership/ last checked 2026-10.</a:t>
            </a:r>
          </a:p>
          <a:p>
            <a:pPr>
              <a:defRPr sz="1400"/>
            </a:pPr>
            <a:r>
              <a:t>OMG managed communities (community). https://www.omg.org/communities/ last checked 2026-10.</a:t>
            </a:r>
          </a:p>
          <a:p>
            <a:pPr>
              <a:defRPr sz="1400"/>
            </a:pPr>
            <a:r>
              <a:t>Connect Customer metric definitions (official). https://docs.aws.amazon.com/connect/latest/adminguide/metrics-definitions.html last checked 2026-10.</a:t>
            </a:r>
          </a:p>
          <a:p>
            <a:pPr>
              <a:defRPr sz="1400"/>
            </a:pPr>
            <a:r>
              <a:t>Connect Customer historical metric definitions (official). https://docs.aws.amazon.com/connect/latest/adminguide/historical-metrics-definitions.html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IBM, What is CSAT and how to calculate it (official). https://www.ibm.com/think/topics/csat-customer-satisfaction-score last checked 2026-10.</a:t>
            </a:r>
          </a:p>
          <a:p>
            <a:pPr>
              <a:defRPr sz="1400"/>
            </a:pPr>
            <a:r>
              <a:t>AWS Prescriptive Guidance, migration checklists (official). https://docs.aws.amazon.com/prescriptive-guidance/latest/strategy-migration-connect/checklist.html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