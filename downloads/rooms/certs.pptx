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Certifications</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IIBA, PMI-PBA, and adjacent credentials with cited fees.</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In five minutes</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Read the fee cell and the eligibility FAQ before you pay. ECBA, CCBA, CBAP, AAC, and CBDA figures in this lab were copied from IIBA pages on 16 October 2026, including member and non-member lines as printed. PMI-PBA experience paths and the exam shape are cited. The exam fee was not on the page that loaded. Scrum.org and the SAFe POPM course page did not yield a fee. Confirm before you pay. This lab states no salaries.</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Export this room</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IIBA KnowledgeHub, including the BABOK Guide contents (standard). https://www.iiba.org/knowledgehub/ last checked 2026-10.</a:t>
            </a:r>
          </a:p>
          <a:p>
            <a:pPr>
              <a:defRPr sz="1400"/>
            </a:pPr>
            <a:r>
              <a:t>BABOK Guide article on the IIBA knowledge hub (standard). confirm. last checked 2026-10.</a:t>
            </a:r>
          </a:p>
          <a:p>
            <a:pPr>
              <a:defRPr sz="1400"/>
            </a:pPr>
            <a:r>
              <a:t>IIBA home (official). https://www.iiba.org/ last checked 2026-10.</a:t>
            </a:r>
          </a:p>
          <a:p>
            <a:pPr>
              <a:defRPr sz="1400"/>
            </a:pPr>
            <a:r>
              <a:t>Manifesto for Agile Software Development (standard). https://agilemanifesto.org/ last checked 2026-10.</a:t>
            </a:r>
          </a:p>
          <a:p>
            <a:pPr>
              <a:defRPr sz="1400"/>
            </a:pPr>
            <a:r>
              <a:t>Principles behind the Agile Manifesto (standard). https://agilemanifesto.org/principles.html last checked 2026-10.</a:t>
            </a:r>
          </a:p>
          <a:p>
            <a:pPr>
              <a:defRPr sz="1400"/>
            </a:pPr>
            <a:r>
              <a:t>OMG, about BPMN 2.0 (standard). https://www.omg.org/spec/BPMN/2.0/About-BPMN last checked 2026-10.</a:t>
            </a:r>
          </a:p>
          <a:p>
            <a:pPr>
              <a:defRPr sz="1400"/>
            </a:pPr>
            <a:r>
              <a:t>BPMN 2.0 specification PDF (standard). https://www.omg.org/spec/BPMN/2.0/PDF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OMG, about BPMN 2.0.2 (standard). https://www.omg.org/spec/BPMN/2.0.2/About-BPMN last checked 2026-10.</a:t>
            </a:r>
          </a:p>
          <a:p>
            <a:pPr>
              <a:defRPr sz="1400"/>
            </a:pPr>
            <a:r>
              <a:t>OMG, about UML 2.5.1 (standard). https://www.omg.org/spec/UML/2.5.1/About-UML last checked 2026-10.</a:t>
            </a:r>
          </a:p>
          <a:p>
            <a:pPr>
              <a:defRPr sz="1400"/>
            </a:pPr>
            <a:r>
              <a:t>UML 2.5.1 specification PDF (standard). https://www.omg.org/spec/UML/2.5.1/PDF last checked 2026-10.</a:t>
            </a:r>
          </a:p>
          <a:p>
            <a:pPr>
              <a:defRPr sz="1400"/>
            </a:pPr>
            <a:r>
              <a:t>IIBA membership (community). https://www.iiba.org/membership/ last checked 2026-10.</a:t>
            </a:r>
          </a:p>
          <a:p>
            <a:pPr>
              <a:defRPr sz="1400"/>
            </a:pPr>
            <a:r>
              <a:t>OMG managed communities (community). https://www.omg.org/communities/ last checked 2026-10.</a:t>
            </a:r>
          </a:p>
          <a:p>
            <a:pPr>
              <a:defRPr sz="1400"/>
            </a:pPr>
            <a:r>
              <a:t>IIBA certification fees (official). https://www.iiba.org/business-analysis-certifications/certification-fees/ last checked 2026-10.</a:t>
            </a:r>
          </a:p>
          <a:p>
            <a:pPr>
              <a:defRPr sz="1400"/>
            </a:pPr>
            <a:r>
              <a:t>IIBA certification FAQ (official). https://www.iiba.org/business-analysis-certifications/certification-faq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ECBA (official). https://www.iiba.org/business-analysis-certifications/ecba/ last checked 2026-10.</a:t>
            </a:r>
          </a:p>
          <a:p>
            <a:pPr>
              <a:defRPr sz="1400"/>
            </a:pPr>
            <a:r>
              <a:t>CCBA (official). https://www.iiba.org/business-analysis-certifications/ccba/ last checked 2026-10.</a:t>
            </a:r>
          </a:p>
          <a:p>
            <a:pPr>
              <a:defRPr sz="1400"/>
            </a:pPr>
            <a:r>
              <a:t>CBAP (official). https://www.iiba.org/business-analysis-certifications/cbap/ last checked 2026-10.</a:t>
            </a:r>
          </a:p>
          <a:p>
            <a:pPr>
              <a:defRPr sz="1400"/>
            </a:pPr>
            <a:r>
              <a:t>IIBA Agile Analysis Certification (official). https://www.iiba.org/business-analysis-certifications/agile-analysis/ last checked 2026-10.</a:t>
            </a:r>
          </a:p>
          <a:p>
            <a:pPr>
              <a:defRPr sz="1400"/>
            </a:pPr>
            <a:r>
              <a:t>CBDA (official). https://www.iiba.org/business-analysis-certifications/business-data-analytics-certification/ last checked 2026-10.</a:t>
            </a:r>
          </a:p>
          <a:p>
            <a:pPr>
              <a:defRPr sz="1400"/>
            </a:pPr>
            <a:r>
              <a:t>PMI-PBA certification page (official). confirm. last checked 2026-10.</a:t>
            </a:r>
          </a:p>
          <a:p>
            <a:pPr>
              <a:defRPr sz="1400"/>
            </a:pPr>
            <a:r>
              <a:t>Project Management Institute (wikipedia). https://en.wikipedia.org/wiki/Project_Management_Institute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The 2020 Scrum Guide (standard). https://scrumguides.org/scrum-guide.html last checked 2026-10.</a:t>
            </a:r>
          </a:p>
          <a:p>
            <a:pPr>
              <a:defRPr sz="1400"/>
            </a:pPr>
            <a:r>
              <a:t>Scrum Guides home (official). https://scrumguides.org/ last checked 2026-10.</a:t>
            </a:r>
          </a:p>
          <a:p>
            <a:pPr>
              <a:defRPr sz="1400"/>
            </a:pPr>
            <a:r>
              <a:t>Scrum.org copy of the Scrum Guide (official). confirm. last checked 2026-10.</a:t>
            </a:r>
          </a:p>
          <a:p>
            <a:pPr>
              <a:defRPr sz="1400"/>
            </a:pPr>
            <a:r>
              <a:t>Certified Scrum Product Owner (official). https://www.scrumalliance.org/get-certified/product-owner-track/certified-scrum-product-owner last checked 2026-10.</a:t>
            </a:r>
          </a:p>
          <a:p>
            <a:pPr>
              <a:defRPr sz="1400"/>
            </a:pPr>
            <a:r>
              <a:t>Scaled Agile (official). https://scaledagile.com/ last checked 2026-10.</a:t>
            </a:r>
          </a:p>
          <a:p>
            <a:pPr>
              <a:defRPr sz="1400"/>
            </a:pPr>
            <a:r>
              <a:t>Kanban University (community). https://kanban.university/ last checked 2026-10.</a:t>
            </a:r>
          </a:p>
          <a:p>
            <a:pPr>
              <a:defRPr sz="1400"/>
            </a:pPr>
            <a:r>
              <a:t>Atlassian Agile (official). https://www.atlassian.com/agile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Atlassian Community (community). https://community.atlassian.com/ last checked 2026-10.</a:t>
            </a:r>
          </a:p>
          <a:p>
            <a:pPr>
              <a:defRPr sz="1400"/>
            </a:pPr>
            <a:r>
              <a:t>Google Design Sprint community (community). https://designsprintkit.withgoogle.com/ last checked 2026-10.</a:t>
            </a:r>
          </a:p>
          <a:p>
            <a:pPr>
              <a:defRPr sz="1400"/>
            </a:pPr>
            <a:r>
              <a:t>IDEO Design Thinking (official). https://designthinking.ideo.com/ last checked 2026-10.</a:t>
            </a:r>
          </a:p>
          <a:p>
            <a:pPr>
              <a:defRPr sz="1400"/>
            </a:pPr>
            <a:r>
              <a:t>Jobs to Be Done (official). https://www.christenseninstitute.org/theory/jobs-to-be-done/ last checked 2026-10.</a:t>
            </a:r>
          </a:p>
          <a:p>
            <a:pPr>
              <a:defRPr sz="1400"/>
            </a:pPr>
            <a:r>
              <a:t>Prosci ADKAR (official). https://www.prosci.com/methodology/adkar last checked 2026-10.</a:t>
            </a:r>
          </a:p>
          <a:p>
            <a:pPr>
              <a:defRPr sz="1400"/>
            </a:pPr>
            <a:r>
              <a:t>re:Work OKRs guide (official). confirm. last checked 2026-10.</a:t>
            </a:r>
          </a:p>
          <a:p>
            <a:pPr>
              <a:defRPr sz="1400"/>
            </a:pPr>
            <a:r>
              <a:t>Objectives and key results (wikipedia). https://en.wikipedia.org/wiki/OKR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