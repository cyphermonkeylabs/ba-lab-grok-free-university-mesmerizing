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yphermonkeylabs.com" TargetMode="External"/><Relationship Id="rId3" Type="http://schemas.openxmlformats.org/officeDocument/2006/relationships/hyperlink" Target="https://github.com/CypherMonkeyLabs" TargetMode="External"/><Relationship Id="rId4" Type="http://schemas.openxmlformats.org/officeDocument/2006/relationships/hyperlink" Target="https://linktr.ee/cypherMonkey"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yphermonkeylabs.com" TargetMode="External"/><Relationship Id="rId3" Type="http://schemas.openxmlformats.org/officeDocument/2006/relationships/hyperlink" Target="https://github.com/CypherMonkeyLabs" TargetMode="External"/><Relationship Id="rId4" Type="http://schemas.openxmlformats.org/officeDocument/2006/relationships/hyperlink" Target="https://linktr.ee/cypherMonkey"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yphermonkeylabs.com" TargetMode="External"/><Relationship Id="rId3" Type="http://schemas.openxmlformats.org/officeDocument/2006/relationships/hyperlink" Target="https://github.com/CypherMonkeyLabs" TargetMode="External"/><Relationship Id="rId4" Type="http://schemas.openxmlformats.org/officeDocument/2006/relationships/hyperlink" Target="https://linktr.ee/cypherMonkey"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155680" cy="731520"/>
          </a:xfrm>
          <a:prstGeom prst="rect">
            <a:avLst/>
          </a:prstGeom>
          <a:noFill/>
        </p:spPr>
        <p:txBody>
          <a:bodyPr wrap="none">
            <a:spAutoFit/>
          </a:bodyPr>
          <a:lstStyle/>
          <a:p>
            <a:pPr>
              <a:defRPr sz="2800" b="1"/>
            </a:pPr>
            <a:r>
              <a:t>Certifications</a:t>
            </a:r>
          </a:p>
        </p:txBody>
      </p:sp>
      <p:sp>
        <p:nvSpPr>
          <p:cNvPr id="3" name="TextBox 2"/>
          <p:cNvSpPr txBox="1"/>
          <p:nvPr/>
        </p:nvSpPr>
        <p:spPr>
          <a:xfrm>
            <a:off x="548640" y="1188720"/>
            <a:ext cx="10972800" cy="4206240"/>
          </a:xfrm>
          <a:prstGeom prst="rect">
            <a:avLst/>
          </a:prstGeom>
          <a:noFill/>
        </p:spPr>
        <p:txBody>
          <a:bodyPr wrap="square">
            <a:spAutoFit/>
          </a:bodyPr>
          <a:lstStyle/>
          <a:p>
            <a:pPr>
              <a:defRPr sz="1800"/>
            </a:pPr>
            <a:r>
              <a:t>IIBA, PMI-PBA, and adjacent credentials with cited fees.</a:t>
            </a:r>
          </a:p>
          <a:p>
            <a:pPr>
              <a:defRPr sz="1800"/>
            </a:pPr>
            <a:r>
              <a:t>Business Analyst Free University</a:t>
            </a:r>
          </a:p>
        </p:txBody>
      </p:sp>
      <p:sp>
        <p:nvSpPr>
          <p:cNvPr id="4" name="TextBox 3"/>
          <p:cNvSpPr txBox="1"/>
          <p:nvPr/>
        </p:nvSpPr>
        <p:spPr>
          <a:xfrm>
            <a:off x="457200" y="5623560"/>
            <a:ext cx="11155680" cy="1005840"/>
          </a:xfrm>
          <a:prstGeom prst="rect">
            <a:avLst/>
          </a:prstGeom>
          <a:noFill/>
        </p:spPr>
        <p:txBody>
          <a:bodyPr wrap="square">
            <a:spAutoFit/>
          </a:bodyPr>
          <a:lstStyle/>
          <a:p>
            <a:pPr>
              <a:defRPr sz="1000"/>
            </a:pPr>
            <a:r>
              <a:t>CypherMonkey Labs · © 2026 CypherMonkeyLabs</a:t>
            </a:r>
          </a:p>
          <a:p>
            <a:r>
              <a:t>Independent, free, learning-only student project. Respects every company and vendor. Trademarks belong to their owners. Not affiliated or endorsed. Concerns are removed or corrected promptly via the contact form at https</a:t>
            </a:r>
          </a:p>
        </p:txBody>
      </p:sp>
      <p:sp>
        <p:nvSpPr>
          <p:cNvPr id="5" name="TextBox 4">
            <a:hlinkClick r:id="rId2"/>
          </p:cNvPr>
          <p:cNvSpPr txBox="1"/>
          <p:nvPr/>
        </p:nvSpPr>
        <p:spPr>
          <a:xfrm>
            <a:off x="457200" y="6355080"/>
            <a:ext cx="2011680" cy="320040"/>
          </a:xfrm>
          <a:prstGeom prst="rect">
            <a:avLst/>
          </a:prstGeom>
          <a:noFill/>
        </p:spPr>
        <p:txBody>
          <a:bodyPr wrap="none">
            <a:spAutoFit/>
          </a:bodyPr>
          <a:lstStyle/>
          <a:p>
            <a:pPr>
              <a:defRPr sz="1200"/>
            </a:pPr>
            <a:r>
              <a:t>Website</a:t>
            </a:r>
          </a:p>
        </p:txBody>
      </p:sp>
      <p:sp>
        <p:nvSpPr>
          <p:cNvPr id="6" name="TextBox 5">
            <a:hlinkClick r:id="rId3"/>
          </p:cNvPr>
          <p:cNvSpPr txBox="1"/>
          <p:nvPr/>
        </p:nvSpPr>
        <p:spPr>
          <a:xfrm>
            <a:off x="2560320" y="6355080"/>
            <a:ext cx="2011680" cy="320040"/>
          </a:xfrm>
          <a:prstGeom prst="rect">
            <a:avLst/>
          </a:prstGeom>
          <a:noFill/>
        </p:spPr>
        <p:txBody>
          <a:bodyPr wrap="none">
            <a:spAutoFit/>
          </a:bodyPr>
          <a:lstStyle/>
          <a:p>
            <a:pPr>
              <a:defRPr sz="1200"/>
            </a:pPr>
            <a:r>
              <a:t>GitHub</a:t>
            </a:r>
          </a:p>
        </p:txBody>
      </p:sp>
      <p:sp>
        <p:nvSpPr>
          <p:cNvPr id="7" name="TextBox 6">
            <a:hlinkClick r:id="rId4"/>
          </p:cNvPr>
          <p:cNvSpPr txBox="1"/>
          <p:nvPr/>
        </p:nvSpPr>
        <p:spPr>
          <a:xfrm>
            <a:off x="4663440" y="6355080"/>
            <a:ext cx="2011680" cy="320040"/>
          </a:xfrm>
          <a:prstGeom prst="rect">
            <a:avLst/>
          </a:prstGeom>
          <a:noFill/>
        </p:spPr>
        <p:txBody>
          <a:bodyPr wrap="none">
            <a:spAutoFit/>
          </a:bodyPr>
          <a:lstStyle/>
          <a:p>
            <a:pPr>
              <a:defRPr sz="1200"/>
            </a:pPr>
            <a:r>
              <a:t>Profile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155680" cy="731520"/>
          </a:xfrm>
          <a:prstGeom prst="rect">
            <a:avLst/>
          </a:prstGeom>
          <a:noFill/>
        </p:spPr>
        <p:txBody>
          <a:bodyPr wrap="none">
            <a:spAutoFit/>
          </a:bodyPr>
          <a:lstStyle/>
          <a:p>
            <a:pPr>
              <a:defRPr sz="2800" b="1"/>
            </a:pPr>
            <a:r>
              <a:t>In five minutes</a:t>
            </a:r>
          </a:p>
        </p:txBody>
      </p:sp>
      <p:sp>
        <p:nvSpPr>
          <p:cNvPr id="3" name="TextBox 2"/>
          <p:cNvSpPr txBox="1"/>
          <p:nvPr/>
        </p:nvSpPr>
        <p:spPr>
          <a:xfrm>
            <a:off x="548640" y="1188720"/>
            <a:ext cx="10972800" cy="4206240"/>
          </a:xfrm>
          <a:prstGeom prst="rect">
            <a:avLst/>
          </a:prstGeom>
          <a:noFill/>
        </p:spPr>
        <p:txBody>
          <a:bodyPr wrap="square">
            <a:spAutoFit/>
          </a:bodyPr>
          <a:lstStyle/>
          <a:p>
            <a:pPr>
              <a:defRPr sz="1800"/>
            </a:pPr>
            <a:r>
              <a:t>Read the fee cell and the eligibility FAQ before you pay. ECBA, CCBA, CBAP, AAC, and CBDA figures in this lab were copied from IIBA pages on 16 October 2026, including member and non-member lines as printed. PMI-PBA experience paths and the exam shape are cited. The exam fee was not on the page that loaded. Scrum.org and the SAFe POPM course page did not yield a fee. Confirm before you pay. This lab states no salaries.</a:t>
            </a:r>
          </a:p>
        </p:txBody>
      </p:sp>
      <p:sp>
        <p:nvSpPr>
          <p:cNvPr id="4" name="TextBox 3"/>
          <p:cNvSpPr txBox="1"/>
          <p:nvPr/>
        </p:nvSpPr>
        <p:spPr>
          <a:xfrm>
            <a:off x="457200" y="5623560"/>
            <a:ext cx="11155680" cy="1005840"/>
          </a:xfrm>
          <a:prstGeom prst="rect">
            <a:avLst/>
          </a:prstGeom>
          <a:noFill/>
        </p:spPr>
        <p:txBody>
          <a:bodyPr wrap="square">
            <a:spAutoFit/>
          </a:bodyPr>
          <a:lstStyle/>
          <a:p>
            <a:pPr>
              <a:defRPr sz="1000"/>
            </a:pPr>
            <a:r>
              <a:t>CypherMonkey Labs · © 2026 CypherMonkeyLabs</a:t>
            </a:r>
          </a:p>
          <a:p>
            <a:r>
              <a:t>Independent, free, learning-only student project. Respects every company and vendor. Trademarks belong to their owners. Not affiliated or endorsed. Concerns are removed or corrected promptly via the contact form at https</a:t>
            </a:r>
          </a:p>
        </p:txBody>
      </p:sp>
      <p:sp>
        <p:nvSpPr>
          <p:cNvPr id="5" name="TextBox 4">
            <a:hlinkClick r:id="rId2"/>
          </p:cNvPr>
          <p:cNvSpPr txBox="1"/>
          <p:nvPr/>
        </p:nvSpPr>
        <p:spPr>
          <a:xfrm>
            <a:off x="457200" y="6355080"/>
            <a:ext cx="2011680" cy="320040"/>
          </a:xfrm>
          <a:prstGeom prst="rect">
            <a:avLst/>
          </a:prstGeom>
          <a:noFill/>
        </p:spPr>
        <p:txBody>
          <a:bodyPr wrap="none">
            <a:spAutoFit/>
          </a:bodyPr>
          <a:lstStyle/>
          <a:p>
            <a:pPr>
              <a:defRPr sz="1200"/>
            </a:pPr>
            <a:r>
              <a:t>Website</a:t>
            </a:r>
          </a:p>
        </p:txBody>
      </p:sp>
      <p:sp>
        <p:nvSpPr>
          <p:cNvPr id="6" name="TextBox 5">
            <a:hlinkClick r:id="rId3"/>
          </p:cNvPr>
          <p:cNvSpPr txBox="1"/>
          <p:nvPr/>
        </p:nvSpPr>
        <p:spPr>
          <a:xfrm>
            <a:off x="2560320" y="6355080"/>
            <a:ext cx="2011680" cy="320040"/>
          </a:xfrm>
          <a:prstGeom prst="rect">
            <a:avLst/>
          </a:prstGeom>
          <a:noFill/>
        </p:spPr>
        <p:txBody>
          <a:bodyPr wrap="none">
            <a:spAutoFit/>
          </a:bodyPr>
          <a:lstStyle/>
          <a:p>
            <a:pPr>
              <a:defRPr sz="1200"/>
            </a:pPr>
            <a:r>
              <a:t>GitHub</a:t>
            </a:r>
          </a:p>
        </p:txBody>
      </p:sp>
      <p:sp>
        <p:nvSpPr>
          <p:cNvPr id="7" name="TextBox 6">
            <a:hlinkClick r:id="rId4"/>
          </p:cNvPr>
          <p:cNvSpPr txBox="1"/>
          <p:nvPr/>
        </p:nvSpPr>
        <p:spPr>
          <a:xfrm>
            <a:off x="4663440" y="6355080"/>
            <a:ext cx="2011680" cy="320040"/>
          </a:xfrm>
          <a:prstGeom prst="rect">
            <a:avLst/>
          </a:prstGeom>
          <a:noFill/>
        </p:spPr>
        <p:txBody>
          <a:bodyPr wrap="none">
            <a:spAutoFit/>
          </a:bodyPr>
          <a:lstStyle/>
          <a:p>
            <a:pPr>
              <a:defRPr sz="1200"/>
            </a:pPr>
            <a:r>
              <a:t>Profile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155680" cy="731520"/>
          </a:xfrm>
          <a:prstGeom prst="rect">
            <a:avLst/>
          </a:prstGeom>
          <a:noFill/>
        </p:spPr>
        <p:txBody>
          <a:bodyPr wrap="none">
            <a:spAutoFit/>
          </a:bodyPr>
          <a:lstStyle/>
          <a:p>
            <a:pPr>
              <a:defRPr sz="2800" b="1"/>
            </a:pPr>
            <a:r>
              <a:t>Export this room</a:t>
            </a:r>
          </a:p>
        </p:txBody>
      </p:sp>
      <p:sp>
        <p:nvSpPr>
          <p:cNvPr id="3" name="TextBox 2"/>
          <p:cNvSpPr txBox="1"/>
          <p:nvPr/>
        </p:nvSpPr>
        <p:spPr>
          <a:xfrm>
            <a:off x="548640" y="1188720"/>
            <a:ext cx="10972800" cy="4206240"/>
          </a:xfrm>
          <a:prstGeom prst="rect">
            <a:avLst/>
          </a:prstGeom>
          <a:noFill/>
        </p:spPr>
        <p:txBody>
          <a:bodyPr wrap="square">
            <a:spAutoFit/>
          </a:bodyPr>
          <a:lstStyle/>
          <a:p>
            <a:pPr>
              <a:defRPr sz="1800"/>
            </a:pPr>
            <a:r>
              <a:t>PDF, HTML, DOCX, PPTX, and JSON sit beside this deck.</a:t>
            </a:r>
          </a:p>
          <a:p>
            <a:pPr>
              <a:defRPr sz="1800"/>
            </a:pPr>
            <a:r>
              <a:t>Contact is the form on the lab website.</a:t>
            </a:r>
          </a:p>
        </p:txBody>
      </p:sp>
      <p:sp>
        <p:nvSpPr>
          <p:cNvPr id="4" name="TextBox 3"/>
          <p:cNvSpPr txBox="1"/>
          <p:nvPr/>
        </p:nvSpPr>
        <p:spPr>
          <a:xfrm>
            <a:off x="457200" y="5623560"/>
            <a:ext cx="11155680" cy="1005840"/>
          </a:xfrm>
          <a:prstGeom prst="rect">
            <a:avLst/>
          </a:prstGeom>
          <a:noFill/>
        </p:spPr>
        <p:txBody>
          <a:bodyPr wrap="square">
            <a:spAutoFit/>
          </a:bodyPr>
          <a:lstStyle/>
          <a:p>
            <a:pPr>
              <a:defRPr sz="1000"/>
            </a:pPr>
            <a:r>
              <a:t>CypherMonkey Labs · © 2026 CypherMonkeyLabs</a:t>
            </a:r>
          </a:p>
          <a:p>
            <a:r>
              <a:t>Independent, free, learning-only student project. Respects every company and vendor. Trademarks belong to their owners. Not affiliated or endorsed. Concerns are removed or corrected promptly via the contact form at https</a:t>
            </a:r>
          </a:p>
        </p:txBody>
      </p:sp>
      <p:sp>
        <p:nvSpPr>
          <p:cNvPr id="5" name="TextBox 4">
            <a:hlinkClick r:id="rId2"/>
          </p:cNvPr>
          <p:cNvSpPr txBox="1"/>
          <p:nvPr/>
        </p:nvSpPr>
        <p:spPr>
          <a:xfrm>
            <a:off x="457200" y="6355080"/>
            <a:ext cx="2011680" cy="320040"/>
          </a:xfrm>
          <a:prstGeom prst="rect">
            <a:avLst/>
          </a:prstGeom>
          <a:noFill/>
        </p:spPr>
        <p:txBody>
          <a:bodyPr wrap="none">
            <a:spAutoFit/>
          </a:bodyPr>
          <a:lstStyle/>
          <a:p>
            <a:pPr>
              <a:defRPr sz="1200"/>
            </a:pPr>
            <a:r>
              <a:t>Website</a:t>
            </a:r>
          </a:p>
        </p:txBody>
      </p:sp>
      <p:sp>
        <p:nvSpPr>
          <p:cNvPr id="6" name="TextBox 5">
            <a:hlinkClick r:id="rId3"/>
          </p:cNvPr>
          <p:cNvSpPr txBox="1"/>
          <p:nvPr/>
        </p:nvSpPr>
        <p:spPr>
          <a:xfrm>
            <a:off x="2560320" y="6355080"/>
            <a:ext cx="2011680" cy="320040"/>
          </a:xfrm>
          <a:prstGeom prst="rect">
            <a:avLst/>
          </a:prstGeom>
          <a:noFill/>
        </p:spPr>
        <p:txBody>
          <a:bodyPr wrap="none">
            <a:spAutoFit/>
          </a:bodyPr>
          <a:lstStyle/>
          <a:p>
            <a:pPr>
              <a:defRPr sz="1200"/>
            </a:pPr>
            <a:r>
              <a:t>GitHub</a:t>
            </a:r>
          </a:p>
        </p:txBody>
      </p:sp>
      <p:sp>
        <p:nvSpPr>
          <p:cNvPr id="7" name="TextBox 6">
            <a:hlinkClick r:id="rId4"/>
          </p:cNvPr>
          <p:cNvSpPr txBox="1"/>
          <p:nvPr/>
        </p:nvSpPr>
        <p:spPr>
          <a:xfrm>
            <a:off x="4663440" y="6355080"/>
            <a:ext cx="2011680" cy="320040"/>
          </a:xfrm>
          <a:prstGeom prst="rect">
            <a:avLst/>
          </a:prstGeom>
          <a:noFill/>
        </p:spPr>
        <p:txBody>
          <a:bodyPr wrap="none">
            <a:spAutoFit/>
          </a:bodyPr>
          <a:lstStyle/>
          <a:p>
            <a:pPr>
              <a:defRPr sz="1200"/>
            </a:pPr>
            <a:r>
              <a:t>Profile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