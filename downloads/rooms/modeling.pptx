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yphermonkeylabs.com" TargetMode="External"/><Relationship Id="rId3" Type="http://schemas.openxmlformats.org/officeDocument/2006/relationships/hyperlink" Target="https://github.com/CypherMonkeyLabs" TargetMode="External"/><Relationship Id="rId4" Type="http://schemas.openxmlformats.org/officeDocument/2006/relationships/hyperlink" Target="https://linktr.ee/cypherMonke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Modeling</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BPMN, UML, ERD, and C4 in plain language.</a:t>
            </a:r>
          </a:p>
          <a:p>
            <a:pPr>
              <a:defRPr sz="1800"/>
            </a:pPr>
            <a:r>
              <a:t>Business Analyst Free University</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In five minutes</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Pick the question before the notation. BPMN is for flow: events, activities, gateways. UML is a family of sketches. An ERD names things and relationships. C4 steps from system context to container, component, and code. Stop at the level the audience can use. Draw the unhappy path.</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155680" cy="731520"/>
          </a:xfrm>
          <a:prstGeom prst="rect">
            <a:avLst/>
          </a:prstGeom>
          <a:noFill/>
        </p:spPr>
        <p:txBody>
          <a:bodyPr wrap="none">
            <a:spAutoFit/>
          </a:bodyPr>
          <a:lstStyle/>
          <a:p>
            <a:pPr>
              <a:defRPr sz="2800" b="1"/>
            </a:pPr>
            <a:r>
              <a:t>Export this room</a:t>
            </a:r>
          </a:p>
        </p:txBody>
      </p:sp>
      <p:sp>
        <p:nvSpPr>
          <p:cNvPr id="3" name="TextBox 2"/>
          <p:cNvSpPr txBox="1"/>
          <p:nvPr/>
        </p:nvSpPr>
        <p:spPr>
          <a:xfrm>
            <a:off x="548640" y="1188720"/>
            <a:ext cx="10972800" cy="4206240"/>
          </a:xfrm>
          <a:prstGeom prst="rect">
            <a:avLst/>
          </a:prstGeom>
          <a:noFill/>
        </p:spPr>
        <p:txBody>
          <a:bodyPr wrap="square">
            <a:spAutoFit/>
          </a:bodyPr>
          <a:lstStyle/>
          <a:p>
            <a:pPr>
              <a:defRPr sz="1800"/>
            </a:pPr>
            <a:r>
              <a:t>PDF, HTML, DOCX, PPTX, and JSON sit beside this deck.</a:t>
            </a:r>
          </a:p>
          <a:p>
            <a:pPr>
              <a:defRPr sz="1800"/>
            </a:pPr>
            <a:r>
              <a:t>Contact is the form on the lab website.</a:t>
            </a:r>
          </a:p>
        </p:txBody>
      </p:sp>
      <p:sp>
        <p:nvSpPr>
          <p:cNvPr id="4" name="TextBox 3"/>
          <p:cNvSpPr txBox="1"/>
          <p:nvPr/>
        </p:nvSpPr>
        <p:spPr>
          <a:xfrm>
            <a:off x="457200" y="5623560"/>
            <a:ext cx="11155680" cy="1005840"/>
          </a:xfrm>
          <a:prstGeom prst="rect">
            <a:avLst/>
          </a:prstGeom>
          <a:noFill/>
        </p:spPr>
        <p:txBody>
          <a:bodyPr wrap="square">
            <a:spAutoFit/>
          </a:bodyPr>
          <a:lstStyle/>
          <a:p>
            <a:pPr>
              <a:defRPr sz="1000"/>
            </a:pPr>
            <a:r>
              <a:t>CypherMonkey Labs · © 2026 CypherMonkeyLabs</a:t>
            </a:r>
          </a:p>
          <a:p>
            <a:r>
              <a:t>Independent, free, learning-only student project. Respects every company and vendor. Trademarks belong to their owners. Not affiliated or endorsed. Concerns are removed or corrected promptly via the contact form at https</a:t>
            </a:r>
          </a:p>
        </p:txBody>
      </p:sp>
      <p:sp>
        <p:nvSpPr>
          <p:cNvPr id="5" name="TextBox 4">
            <a:hlinkClick r:id="rId2"/>
          </p:cNvPr>
          <p:cNvSpPr txBox="1"/>
          <p:nvPr/>
        </p:nvSpPr>
        <p:spPr>
          <a:xfrm>
            <a:off x="457200" y="6355080"/>
            <a:ext cx="2011680" cy="320040"/>
          </a:xfrm>
          <a:prstGeom prst="rect">
            <a:avLst/>
          </a:prstGeom>
          <a:noFill/>
        </p:spPr>
        <p:txBody>
          <a:bodyPr wrap="none">
            <a:spAutoFit/>
          </a:bodyPr>
          <a:lstStyle/>
          <a:p>
            <a:pPr>
              <a:defRPr sz="1200"/>
            </a:pPr>
            <a:r>
              <a:t>Website</a:t>
            </a:r>
          </a:p>
        </p:txBody>
      </p:sp>
      <p:sp>
        <p:nvSpPr>
          <p:cNvPr id="6" name="TextBox 5">
            <a:hlinkClick r:id="rId3"/>
          </p:cNvPr>
          <p:cNvSpPr txBox="1"/>
          <p:nvPr/>
        </p:nvSpPr>
        <p:spPr>
          <a:xfrm>
            <a:off x="2560320" y="6355080"/>
            <a:ext cx="2011680" cy="320040"/>
          </a:xfrm>
          <a:prstGeom prst="rect">
            <a:avLst/>
          </a:prstGeom>
          <a:noFill/>
        </p:spPr>
        <p:txBody>
          <a:bodyPr wrap="none">
            <a:spAutoFit/>
          </a:bodyPr>
          <a:lstStyle/>
          <a:p>
            <a:pPr>
              <a:defRPr sz="1200"/>
            </a:pPr>
            <a:r>
              <a:t>GitHub</a:t>
            </a:r>
          </a:p>
        </p:txBody>
      </p:sp>
      <p:sp>
        <p:nvSpPr>
          <p:cNvPr id="7" name="TextBox 6">
            <a:hlinkClick r:id="rId4"/>
          </p:cNvPr>
          <p:cNvSpPr txBox="1"/>
          <p:nvPr/>
        </p:nvSpPr>
        <p:spPr>
          <a:xfrm>
            <a:off x="4663440" y="6355080"/>
            <a:ext cx="2011680" cy="320040"/>
          </a:xfrm>
          <a:prstGeom prst="rect">
            <a:avLst/>
          </a:prstGeom>
          <a:noFill/>
        </p:spPr>
        <p:txBody>
          <a:bodyPr wrap="none">
            <a:spAutoFit/>
          </a:bodyPr>
          <a:lstStyle/>
          <a:p>
            <a:pPr>
              <a:defRPr sz="1200"/>
            </a:pPr>
            <a:r>
              <a:t>Profile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