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Modeling</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BPMN, UML, ERD, and C4 in plain language.</a:t>
            </a:r>
          </a:p>
          <a:p>
            <a:pPr>
              <a:defRPr sz="1800"/>
            </a:pPr>
            <a:r>
              <a:t>Business Analyst Free University</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In five minutes</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Pick the question before the notation. BPMN is for flow: events, activities, gateways. UML is a family of sketches. An ERD names things and relationships. C4 steps from system context to container, component, and code. Stop at the level the audience can use. Draw the unhappy path.</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Export this room</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PDF, HTML, DOCX, PPTX, and JSON sit beside this deck.</a:t>
            </a:r>
          </a:p>
          <a:p>
            <a:pPr>
              <a:defRPr sz="1800"/>
            </a:pPr>
            <a:r>
              <a:t>Contact is the form on the lab website.</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IIBA KnowledgeHub, including the BABOK Guide contents (standard). https://www.iiba.org/knowledgehub/ last checked 2026-10.</a:t>
            </a:r>
          </a:p>
          <a:p>
            <a:pPr>
              <a:defRPr sz="1400"/>
            </a:pPr>
            <a:r>
              <a:t>BABOK Guide article on the IIBA knowledge hub (standard). confirm. last checked 2026-10.</a:t>
            </a:r>
          </a:p>
          <a:p>
            <a:pPr>
              <a:defRPr sz="1400"/>
            </a:pPr>
            <a:r>
              <a:t>IIBA home (official). https://www.iiba.org/ last checked 2026-10.</a:t>
            </a:r>
          </a:p>
          <a:p>
            <a:pPr>
              <a:defRPr sz="1400"/>
            </a:pPr>
            <a:r>
              <a:t>Manifesto for Agile Software Development (standard). https://agilemanifesto.org/ last checked 2026-10.</a:t>
            </a:r>
          </a:p>
          <a:p>
            <a:pPr>
              <a:defRPr sz="1400"/>
            </a:pPr>
            <a:r>
              <a:t>Principles behind the Agile Manifesto (standard). https://agilemanifesto.org/principles.html last checked 2026-10.</a:t>
            </a:r>
          </a:p>
          <a:p>
            <a:pPr>
              <a:defRPr sz="1400"/>
            </a:pPr>
            <a:r>
              <a:t>OMG, about BPMN 2.0 (standard). https://www.omg.org/spec/BPMN/2.0/About-BPMN last checked 2026-10.</a:t>
            </a:r>
          </a:p>
          <a:p>
            <a:pPr>
              <a:defRPr sz="1400"/>
            </a:pPr>
            <a:r>
              <a:t>BPMN 2.0 specification PDF (standard). https://www.omg.org/spec/BPMN/2.0/PDF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 continued</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OMG, about BPMN 2.0.2 (standard). https://www.omg.org/spec/BPMN/2.0.2/About-BPMN last checked 2026-10.</a:t>
            </a:r>
          </a:p>
          <a:p>
            <a:pPr>
              <a:defRPr sz="1400"/>
            </a:pPr>
            <a:r>
              <a:t>OMG, about UML 2.5.1 (standard). https://www.omg.org/spec/UML/2.5.1/About-UML last checked 2026-10.</a:t>
            </a:r>
          </a:p>
          <a:p>
            <a:pPr>
              <a:defRPr sz="1400"/>
            </a:pPr>
            <a:r>
              <a:t>UML 2.5.1 specification PDF (standard). https://www.omg.org/spec/UML/2.5.1/PDF last checked 2026-10.</a:t>
            </a:r>
          </a:p>
          <a:p>
            <a:pPr>
              <a:defRPr sz="1400"/>
            </a:pPr>
            <a:r>
              <a:t>IIBA membership (community). https://www.iiba.org/membership/ last checked 2026-10.</a:t>
            </a:r>
          </a:p>
          <a:p>
            <a:pPr>
              <a:defRPr sz="1400"/>
            </a:pPr>
            <a:r>
              <a:t>OMG managed communities (community). https://www.omg.org/communities/ last checked 2026-10.</a:t>
            </a:r>
          </a:p>
          <a:p>
            <a:pPr>
              <a:defRPr sz="1400"/>
            </a:pPr>
            <a:r>
              <a:t>C4 model (official). https://c4model.com/ last checked 2026-10.</a:t>
            </a:r>
          </a:p>
          <a:p>
            <a:pPr>
              <a:defRPr sz="1400"/>
            </a:pPr>
            <a:r>
              <a:t>Lucid BPMN tutorial (community). https://lucid.co/diagram/bpmn/tutorial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Concerns are removed or corrected promptly via the contact form at https</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