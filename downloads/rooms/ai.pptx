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cyphermonkeylabs.com" TargetMode="External"/><Relationship Id="rId3" Type="http://schemas.openxmlformats.org/officeDocument/2006/relationships/hyperlink" Target="https://github.com/CypherMonkeyLabs" TargetMode="External"/><Relationship Id="rId4" Type="http://schemas.openxmlformats.org/officeDocument/2006/relationships/hyperlink" Target="https://linktr.ee/cypherMonkey" TargetMode="Externa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cyphermonkeylabs.com" TargetMode="External"/><Relationship Id="rId3" Type="http://schemas.openxmlformats.org/officeDocument/2006/relationships/hyperlink" Target="https://github.com/CypherMonkeyLabs" TargetMode="External"/><Relationship Id="rId4" Type="http://schemas.openxmlformats.org/officeDocument/2006/relationships/hyperlink" Target="https://linktr.ee/cypherMonkey" TargetMode="Externa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cyphermonkeylabs.com" TargetMode="External"/><Relationship Id="rId3" Type="http://schemas.openxmlformats.org/officeDocument/2006/relationships/hyperlink" Target="https://github.com/CypherMonkeyLabs" TargetMode="External"/><Relationship Id="rId4" Type="http://schemas.openxmlformats.org/officeDocument/2006/relationships/hyperlink" Target="https://linktr.ee/cypherMonkey" TargetMode="Externa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cyphermonkeylabs.com" TargetMode="External"/><Relationship Id="rId3" Type="http://schemas.openxmlformats.org/officeDocument/2006/relationships/hyperlink" Target="https://github.com/CypherMonkeyLabs" TargetMode="External"/><Relationship Id="rId4" Type="http://schemas.openxmlformats.org/officeDocument/2006/relationships/hyperlink" Target="https://linktr.ee/cypherMonkey" TargetMode="Externa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cyphermonkeylabs.com" TargetMode="External"/><Relationship Id="rId3" Type="http://schemas.openxmlformats.org/officeDocument/2006/relationships/hyperlink" Target="https://github.com/CypherMonkeyLabs" TargetMode="External"/><Relationship Id="rId4" Type="http://schemas.openxmlformats.org/officeDocument/2006/relationships/hyperlink" Target="https://linktr.ee/cypherMonkey" TargetMode="Externa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1556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/>
            </a:pPr>
            <a:r>
              <a:t>AI for business analysts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51560"/>
            <a:ext cx="1097280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/>
            </a:pPr>
            <a:r>
              <a:t>Drafting help, review, and responsible use.</a:t>
            </a:r>
          </a:p>
          <a:p>
            <a:pPr>
              <a:defRPr sz="1800"/>
            </a:pPr>
            <a:r>
              <a:t>Business Analyst Free University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623560"/>
            <a:ext cx="111556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/>
            </a:pPr>
            <a:r>
              <a:t>CypherMonkey Labs · © 2026 CypherMonkeyLabs</a:t>
            </a:r>
          </a:p>
          <a:p>
            <a:r>
              <a:t>Independent, free, learning-only student project. Respects every company and vendor. Trademarks belong to their owners. Not affiliated or endorsed. Concerns are removed or corrected promptly via the contact form at https</a:t>
            </a:r>
          </a:p>
        </p:txBody>
      </p:sp>
      <p:sp>
        <p:nvSpPr>
          <p:cNvPr id="5" name="TextBox 4">
            <a:hlinkClick r:id="rId2"/>
          </p:cNvPr>
          <p:cNvSpPr txBox="1"/>
          <p:nvPr/>
        </p:nvSpPr>
        <p:spPr>
          <a:xfrm>
            <a:off x="457200" y="635508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Website</a:t>
            </a:r>
          </a:p>
        </p:txBody>
      </p:sp>
      <p:sp>
        <p:nvSpPr>
          <p:cNvPr id="6" name="TextBox 5">
            <a:hlinkClick r:id="rId3"/>
          </p:cNvPr>
          <p:cNvSpPr txBox="1"/>
          <p:nvPr/>
        </p:nvSpPr>
        <p:spPr>
          <a:xfrm>
            <a:off x="2560320" y="635508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GitHub</a:t>
            </a:r>
          </a:p>
        </p:txBody>
      </p:sp>
      <p:sp>
        <p:nvSpPr>
          <p:cNvPr id="7" name="TextBox 6">
            <a:hlinkClick r:id="rId4"/>
          </p:cNvPr>
          <p:cNvSpPr txBox="1"/>
          <p:nvPr/>
        </p:nvSpPr>
        <p:spPr>
          <a:xfrm>
            <a:off x="4663440" y="635508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Profile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1556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/>
            </a:pPr>
            <a:r>
              <a:t>In five minutes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51560"/>
            <a:ext cx="1097280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/>
            </a:pPr>
            <a:r>
              <a:t>A model can draft a list, a scenario, or a first drawing. A person checks every fact against a source, marks unknowns, and accepts the text before a stakeholder sees it as a requirement. The handoff from a model to a person, in a contact center or a product flow, is itself a requirement. This lab claims no tool expertise for anyone.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623560"/>
            <a:ext cx="111556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/>
            </a:pPr>
            <a:r>
              <a:t>CypherMonkey Labs · © 2026 CypherMonkeyLabs</a:t>
            </a:r>
          </a:p>
          <a:p>
            <a:r>
              <a:t>Independent, free, learning-only student project. Respects every company and vendor. Trademarks belong to their owners. Not affiliated or endorsed. Concerns are removed or corrected promptly via the contact form at https</a:t>
            </a:r>
          </a:p>
        </p:txBody>
      </p:sp>
      <p:sp>
        <p:nvSpPr>
          <p:cNvPr id="5" name="TextBox 4">
            <a:hlinkClick r:id="rId2"/>
          </p:cNvPr>
          <p:cNvSpPr txBox="1"/>
          <p:nvPr/>
        </p:nvSpPr>
        <p:spPr>
          <a:xfrm>
            <a:off x="457200" y="635508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Website</a:t>
            </a:r>
          </a:p>
        </p:txBody>
      </p:sp>
      <p:sp>
        <p:nvSpPr>
          <p:cNvPr id="6" name="TextBox 5">
            <a:hlinkClick r:id="rId3"/>
          </p:cNvPr>
          <p:cNvSpPr txBox="1"/>
          <p:nvPr/>
        </p:nvSpPr>
        <p:spPr>
          <a:xfrm>
            <a:off x="2560320" y="635508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GitHub</a:t>
            </a:r>
          </a:p>
        </p:txBody>
      </p:sp>
      <p:sp>
        <p:nvSpPr>
          <p:cNvPr id="7" name="TextBox 6">
            <a:hlinkClick r:id="rId4"/>
          </p:cNvPr>
          <p:cNvSpPr txBox="1"/>
          <p:nvPr/>
        </p:nvSpPr>
        <p:spPr>
          <a:xfrm>
            <a:off x="4663440" y="635508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Profile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1556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/>
            </a:pPr>
            <a:r>
              <a:t>Export this room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51560"/>
            <a:ext cx="1097280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/>
            </a:pPr>
            <a:r>
              <a:t>PDF, HTML, DOCX, PPTX, and JSON sit beside this deck.</a:t>
            </a:r>
          </a:p>
          <a:p>
            <a:pPr>
              <a:defRPr sz="1800"/>
            </a:pPr>
            <a:r>
              <a:t>Contact is the form on the lab website.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623560"/>
            <a:ext cx="111556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/>
            </a:pPr>
            <a:r>
              <a:t>CypherMonkey Labs · © 2026 CypherMonkeyLabs</a:t>
            </a:r>
          </a:p>
          <a:p>
            <a:r>
              <a:t>Independent, free, learning-only student project. Respects every company and vendor. Trademarks belong to their owners. Not affiliated or endorsed. Concerns are removed or corrected promptly via the contact form at https</a:t>
            </a:r>
          </a:p>
        </p:txBody>
      </p:sp>
      <p:sp>
        <p:nvSpPr>
          <p:cNvPr id="5" name="TextBox 4">
            <a:hlinkClick r:id="rId2"/>
          </p:cNvPr>
          <p:cNvSpPr txBox="1"/>
          <p:nvPr/>
        </p:nvSpPr>
        <p:spPr>
          <a:xfrm>
            <a:off x="457200" y="635508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Website</a:t>
            </a:r>
          </a:p>
        </p:txBody>
      </p:sp>
      <p:sp>
        <p:nvSpPr>
          <p:cNvPr id="6" name="TextBox 5">
            <a:hlinkClick r:id="rId3"/>
          </p:cNvPr>
          <p:cNvSpPr txBox="1"/>
          <p:nvPr/>
        </p:nvSpPr>
        <p:spPr>
          <a:xfrm>
            <a:off x="2560320" y="635508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GitHub</a:t>
            </a:r>
          </a:p>
        </p:txBody>
      </p:sp>
      <p:sp>
        <p:nvSpPr>
          <p:cNvPr id="7" name="TextBox 6">
            <a:hlinkClick r:id="rId4"/>
          </p:cNvPr>
          <p:cNvSpPr txBox="1"/>
          <p:nvPr/>
        </p:nvSpPr>
        <p:spPr>
          <a:xfrm>
            <a:off x="4663440" y="635508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Profile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1556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/>
            </a:pPr>
            <a:r>
              <a:t>Sources and go deeper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51560"/>
            <a:ext cx="1097280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/>
            </a:pPr>
            <a:r>
              <a:t>IIBA KnowledgeHub, including the BABOK Guide contents (standard). https://www.iiba.org/knowledgehub/ last checked 2026-10.</a:t>
            </a:r>
          </a:p>
          <a:p>
            <a:pPr>
              <a:defRPr sz="1400"/>
            </a:pPr>
            <a:r>
              <a:t>BABOK Guide article on the IIBA knowledge hub (standard). confirm. last checked 2026-10.</a:t>
            </a:r>
          </a:p>
          <a:p>
            <a:pPr>
              <a:defRPr sz="1400"/>
            </a:pPr>
            <a:r>
              <a:t>IIBA home (official). https://www.iiba.org/ last checked 2026-10.</a:t>
            </a:r>
          </a:p>
          <a:p>
            <a:pPr>
              <a:defRPr sz="1400"/>
            </a:pPr>
            <a:r>
              <a:t>Manifesto for Agile Software Development (standard). https://agilemanifesto.org/ last checked 2026-10.</a:t>
            </a:r>
          </a:p>
          <a:p>
            <a:pPr>
              <a:defRPr sz="1400"/>
            </a:pPr>
            <a:r>
              <a:t>Principles behind the Agile Manifesto (standard). https://agilemanifesto.org/principles.html last checked 2026-10.</a:t>
            </a:r>
          </a:p>
          <a:p>
            <a:pPr>
              <a:defRPr sz="1400"/>
            </a:pPr>
            <a:r>
              <a:t>OMG, about BPMN 2.0 (standard). https://www.omg.org/spec/BPMN/2.0/About-BPMN last checked 2026-10.</a:t>
            </a:r>
          </a:p>
          <a:p>
            <a:pPr>
              <a:defRPr sz="1400"/>
            </a:pPr>
            <a:r>
              <a:t>BPMN 2.0 specification PDF (standard). https://www.omg.org/spec/BPMN/2.0/PDF last checked 2026-10.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623560"/>
            <a:ext cx="111556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/>
            </a:pPr>
            <a:r>
              <a:t>CypherMonkey Labs · © 2026 CypherMonkeyLabs</a:t>
            </a:r>
          </a:p>
          <a:p>
            <a:r>
              <a:t>Independent, free, learning-only student project. Respects every company and vendor. Trademarks belong to their owners. Not affiliated or endorsed. Concerns are removed or corrected promptly via the contact form at https</a:t>
            </a:r>
          </a:p>
        </p:txBody>
      </p:sp>
      <p:sp>
        <p:nvSpPr>
          <p:cNvPr id="5" name="TextBox 4">
            <a:hlinkClick r:id="rId2"/>
          </p:cNvPr>
          <p:cNvSpPr txBox="1"/>
          <p:nvPr/>
        </p:nvSpPr>
        <p:spPr>
          <a:xfrm>
            <a:off x="457200" y="635508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Website</a:t>
            </a:r>
          </a:p>
        </p:txBody>
      </p:sp>
      <p:sp>
        <p:nvSpPr>
          <p:cNvPr id="6" name="TextBox 5">
            <a:hlinkClick r:id="rId3"/>
          </p:cNvPr>
          <p:cNvSpPr txBox="1"/>
          <p:nvPr/>
        </p:nvSpPr>
        <p:spPr>
          <a:xfrm>
            <a:off x="2560320" y="635508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GitHub</a:t>
            </a:r>
          </a:p>
        </p:txBody>
      </p:sp>
      <p:sp>
        <p:nvSpPr>
          <p:cNvPr id="7" name="TextBox 6">
            <a:hlinkClick r:id="rId4"/>
          </p:cNvPr>
          <p:cNvSpPr txBox="1"/>
          <p:nvPr/>
        </p:nvSpPr>
        <p:spPr>
          <a:xfrm>
            <a:off x="4663440" y="635508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Profile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1556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/>
            </a:pPr>
            <a:r>
              <a:t>Sources and go deeper, continued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51560"/>
            <a:ext cx="1097280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/>
            </a:pPr>
            <a:r>
              <a:t>OMG, about BPMN 2.0.2 (standard). https://www.omg.org/spec/BPMN/2.0.2/About-BPMN last checked 2026-10.</a:t>
            </a:r>
          </a:p>
          <a:p>
            <a:pPr>
              <a:defRPr sz="1400"/>
            </a:pPr>
            <a:r>
              <a:t>OMG, about UML 2.5.1 (standard). https://www.omg.org/spec/UML/2.5.1/About-UML last checked 2026-10.</a:t>
            </a:r>
          </a:p>
          <a:p>
            <a:pPr>
              <a:defRPr sz="1400"/>
            </a:pPr>
            <a:r>
              <a:t>UML 2.5.1 specification PDF (standard). https://www.omg.org/spec/UML/2.5.1/PDF last checked 2026-10.</a:t>
            </a:r>
          </a:p>
          <a:p>
            <a:pPr>
              <a:defRPr sz="1400"/>
            </a:pPr>
            <a:r>
              <a:t>IIBA membership (community). https://www.iiba.org/membership/ last checked 2026-10.</a:t>
            </a:r>
          </a:p>
          <a:p>
            <a:pPr>
              <a:defRPr sz="1400"/>
            </a:pPr>
            <a:r>
              <a:t>OMG managed communities (community). https://www.omg.org/communities/ last checked 2026-10.</a:t>
            </a:r>
          </a:p>
          <a:p>
            <a:pPr>
              <a:defRPr sz="1400"/>
            </a:pPr>
            <a:r>
              <a:t>NIST AI Risk Management Framework (official). https://www.nist.gov/itl/ai-risk-management-framework last checked 2026-10.</a:t>
            </a:r>
          </a:p>
          <a:p>
            <a:pPr>
              <a:defRPr sz="1400"/>
            </a:pPr>
            <a:r>
              <a:t>A model-vendor card for drafts in this lab (official). confirm. last checked 2026-10.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623560"/>
            <a:ext cx="111556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/>
            </a:pPr>
            <a:r>
              <a:t>CypherMonkey Labs · © 2026 CypherMonkeyLabs</a:t>
            </a:r>
          </a:p>
          <a:p>
            <a:r>
              <a:t>Independent, free, learning-only student project. Respects every company and vendor. Trademarks belong to their owners. Not affiliated or endorsed. Concerns are removed or corrected promptly via the contact form at https</a:t>
            </a:r>
          </a:p>
        </p:txBody>
      </p:sp>
      <p:sp>
        <p:nvSpPr>
          <p:cNvPr id="5" name="TextBox 4">
            <a:hlinkClick r:id="rId2"/>
          </p:cNvPr>
          <p:cNvSpPr txBox="1"/>
          <p:nvPr/>
        </p:nvSpPr>
        <p:spPr>
          <a:xfrm>
            <a:off x="457200" y="635508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Website</a:t>
            </a:r>
          </a:p>
        </p:txBody>
      </p:sp>
      <p:sp>
        <p:nvSpPr>
          <p:cNvPr id="6" name="TextBox 5">
            <a:hlinkClick r:id="rId3"/>
          </p:cNvPr>
          <p:cNvSpPr txBox="1"/>
          <p:nvPr/>
        </p:nvSpPr>
        <p:spPr>
          <a:xfrm>
            <a:off x="2560320" y="635508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GitHub</a:t>
            </a:r>
          </a:p>
        </p:txBody>
      </p:sp>
      <p:sp>
        <p:nvSpPr>
          <p:cNvPr id="7" name="TextBox 6">
            <a:hlinkClick r:id="rId4"/>
          </p:cNvPr>
          <p:cNvSpPr txBox="1"/>
          <p:nvPr/>
        </p:nvSpPr>
        <p:spPr>
          <a:xfrm>
            <a:off x="4663440" y="635508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Profile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