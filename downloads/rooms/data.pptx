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SQL, measures, and process mining for business analysts.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 measure needs a question, a formula, a source, and an owner. HEART, from the cited Google Research paper, is a set of user-centered categories, not a benchmark. SQL, as the PostgreSQL tutorial introduces it, filters and groups rows. Process mining reconstructs paths from event logs you are allowed to use. Leave unknown numbers blank.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IIBA KnowledgeHub, including the BABOK Guide contents (standard). https://www.iiba.org/knowledgehub/ last checked 2026-10.</a:t>
            </a:r>
          </a:p>
          <a:p>
            <a:pPr>
              <a:defRPr sz="1400"/>
            </a:pPr>
            <a:r>
              <a:t>BABOK Guide article on the IIBA knowledge hub (standard). confirm. last checked 2026-10.</a:t>
            </a:r>
          </a:p>
          <a:p>
            <a:pPr>
              <a:defRPr sz="1400"/>
            </a:pPr>
            <a:r>
              <a:t>IIBA home (official). https://www.iiba.org/ last checked 2026-10.</a:t>
            </a:r>
          </a:p>
          <a:p>
            <a:pPr>
              <a:defRPr sz="1400"/>
            </a:pPr>
            <a:r>
              <a:t>Manifesto for Agile Software Development (standard). https://agilemanifesto.org/ last checked 2026-10.</a:t>
            </a:r>
          </a:p>
          <a:p>
            <a:pPr>
              <a:defRPr sz="1400"/>
            </a:pPr>
            <a:r>
              <a:t>Principles behind the Agile Manifesto (standard). https://agilemanifesto.org/principles.html last checked 2026-10.</a:t>
            </a:r>
          </a:p>
          <a:p>
            <a:pPr>
              <a:defRPr sz="1400"/>
            </a:pPr>
            <a:r>
              <a:t>OMG, about BPMN 2.0 (standard). https://www.omg.org/spec/BPMN/2.0/About-BPMN last checked 2026-10.</a:t>
            </a:r>
          </a:p>
          <a:p>
            <a:pPr>
              <a:defRPr sz="1400"/>
            </a:pPr>
            <a:r>
              <a:t>BPMN 2.0 specification PDF (standard). https://www.omg.org/spec/BPMN/2.0/PDF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OMG, about BPMN 2.0.2 (standard). https://www.omg.org/spec/BPMN/2.0.2/About-BPMN last checked 2026-10.</a:t>
            </a:r>
          </a:p>
          <a:p>
            <a:pPr>
              <a:defRPr sz="1400"/>
            </a:pPr>
            <a:r>
              <a:t>OMG, about UML 2.5.1 (standard). https://www.omg.org/spec/UML/2.5.1/About-UML last checked 2026-10.</a:t>
            </a:r>
          </a:p>
          <a:p>
            <a:pPr>
              <a:defRPr sz="1400"/>
            </a:pPr>
            <a:r>
              <a:t>UML 2.5.1 specification PDF (standard). https://www.omg.org/spec/UML/2.5.1/PDF last checked 2026-10.</a:t>
            </a:r>
          </a:p>
          <a:p>
            <a:pPr>
              <a:defRPr sz="1400"/>
            </a:pPr>
            <a:r>
              <a:t>IIBA membership (community). https://www.iiba.org/membership/ last checked 2026-10.</a:t>
            </a:r>
          </a:p>
          <a:p>
            <a:pPr>
              <a:defRPr sz="1400"/>
            </a:pPr>
            <a:r>
              <a:t>OMG managed communities (community). https://www.omg.org/communities/ last checked 2026-10.</a:t>
            </a:r>
          </a:p>
          <a:p>
            <a:pPr>
              <a:defRPr sz="1400"/>
            </a:pPr>
            <a:r>
              <a:t>PostgreSQL, SQL introduction (official). https://www.postgresql.org/docs/current/tutorial-sql-intro.html last checked 2026-10.</a:t>
            </a:r>
          </a:p>
          <a:p>
            <a:pPr>
              <a:defRPr sz="1400"/>
            </a:pPr>
            <a:r>
              <a:t>PostgreSQL, the SQL language (official). https://www.postgresql.org/docs/current/tutorial-sql.html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IEEE Task Force on Process Mining (official). https://www.tf-pm.org/ last checked 2026-10.</a:t>
            </a:r>
          </a:p>
          <a:p>
            <a:pPr>
              <a:defRPr sz="1400"/>
            </a:pPr>
            <a:r>
              <a:t>CBDA (official). https://www.iiba.org/business-analysis-certifications/business-data-analytics-certification/ last checked 2026-10.</a:t>
            </a:r>
          </a:p>
          <a:p>
            <a:pPr>
              <a:defRPr sz="1400"/>
            </a:pPr>
            <a:r>
              <a:t>Google Research, user-centered metrics (official). https://research.google/pubs/measuring-the-user-experience-on-a-large-scale-user-centered-metrics-for-web-applications/ last checked 2026-10.</a:t>
            </a:r>
          </a:p>
          <a:p>
            <a:pPr>
              <a:defRPr sz="1400"/>
            </a:pPr>
            <a:r>
              <a:t>Microsoft Learn, What is Power BI? (official). confirm. last checked 2026-10.</a:t>
            </a:r>
          </a:p>
          <a:p>
            <a:pPr>
              <a:defRPr sz="1400"/>
            </a:pPr>
            <a:r>
              <a:t>Microsoft Power BI (wikipedia). https://en.wikipedia.org/wiki/Microsoft_Power_BI last checked 2026-10.</a:t>
            </a:r>
          </a:p>
          <a:p>
            <a:pPr>
              <a:defRPr sz="1400"/>
            </a:pPr>
            <a:r>
              <a:t>Tableau, Get Started (official). https://help.tableau.com/current/pro/desktop/en-us/gettingstarted_overview.htm last checked 2026-10.</a:t>
            </a:r>
          </a:p>
          <a:p>
            <a:pPr>
              <a:defRPr sz="1400"/>
            </a:pPr>
            <a:r>
              <a:t>re:Work OKRs guide (official). confirm.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Objectives and key results (wikipedia). https://en.wikipedia.org/wiki/OKR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Names in the contact-center rooms are citations of pages opened in Octob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