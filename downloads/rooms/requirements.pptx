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yphermonkeylabs.com" TargetMode="External"/><Relationship Id="rId3" Type="http://schemas.openxmlformats.org/officeDocument/2006/relationships/hyperlink" Target="https://github.com/CypherMonkeyLabs" TargetMode="External"/><Relationship Id="rId4" Type="http://schemas.openxmlformats.org/officeDocument/2006/relationships/hyperlink" Target="https://linktr.ee/cypherMonkey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Elicitation, stories, acceptance criteria, and traceability.</a:t>
            </a:r>
          </a:p>
          <a:p>
            <a:pPr>
              <a:defRPr sz="1800"/>
            </a:pPr>
            <a:r>
              <a:t>Business Analyst Free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 five minutes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A requirement is a usable representation of a need. Give it an identifier, a source, an owner, and a test. A user story names a role, a capability, and an outcome. Given, When, and Then, from the Gherkin reference, turn the outcome into a scenario. Trace the scenario to a test. Untraced text is a rumor.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Export this room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PDF, HTML, DOCX, PPTX, and JSON sit beside this deck.</a:t>
            </a:r>
          </a:p>
          <a:p>
            <a:pPr>
              <a:defRPr sz="1800"/>
            </a:pPr>
            <a:r>
              <a:t>Contact is the form on the lab website.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IIBA KnowledgeHub, including the BABOK Guide contents (standard). https://www.iiba.org/knowledgehub/ last checked 2026-10.</a:t>
            </a:r>
          </a:p>
          <a:p>
            <a:pPr>
              <a:defRPr sz="1400"/>
            </a:pPr>
            <a:r>
              <a:t>BABOK Guide article on the IIBA knowledge hub (standard). confirm. last checked 2026-10.</a:t>
            </a:r>
          </a:p>
          <a:p>
            <a:pPr>
              <a:defRPr sz="1400"/>
            </a:pPr>
            <a:r>
              <a:t>IIBA home (official). https://www.iiba.org/ last checked 2026-10.</a:t>
            </a:r>
          </a:p>
          <a:p>
            <a:pPr>
              <a:defRPr sz="1400"/>
            </a:pPr>
            <a:r>
              <a:t>Manifesto for Agile Software Development (standard). https://agilemanifesto.org/ last checked 2026-10.</a:t>
            </a:r>
          </a:p>
          <a:p>
            <a:pPr>
              <a:defRPr sz="1400"/>
            </a:pPr>
            <a:r>
              <a:t>Principles behind the Agile Manifesto (standard). https://agilemanifesto.org/principles.html last checked 2026-10.</a:t>
            </a:r>
          </a:p>
          <a:p>
            <a:pPr>
              <a:defRPr sz="1400"/>
            </a:pPr>
            <a:r>
              <a:t>OMG, about BPMN 2.0 (standard). https://www.omg.org/spec/BPMN/2.0/About-BPMN last checked 2026-10.</a:t>
            </a:r>
          </a:p>
          <a:p>
            <a:pPr>
              <a:defRPr sz="1400"/>
            </a:pPr>
            <a:r>
              <a:t>BPMN 2.0 specification PDF (standard). https://www.omg.org/spec/BPMN/2.0/PDF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OMG, about BPMN 2.0.2 (standard). https://www.omg.org/spec/BPMN/2.0.2/About-BPMN last checked 2026-10.</a:t>
            </a:r>
          </a:p>
          <a:p>
            <a:pPr>
              <a:defRPr sz="1400"/>
            </a:pPr>
            <a:r>
              <a:t>OMG, about UML 2.5.1 (standard). https://www.omg.org/spec/UML/2.5.1/About-UML last checked 2026-10.</a:t>
            </a:r>
          </a:p>
          <a:p>
            <a:pPr>
              <a:defRPr sz="1400"/>
            </a:pPr>
            <a:r>
              <a:t>UML 2.5.1 specification PDF (standard). https://www.omg.org/spec/UML/2.5.1/PDF last checked 2026-10.</a:t>
            </a:r>
          </a:p>
          <a:p>
            <a:pPr>
              <a:defRPr sz="1400"/>
            </a:pPr>
            <a:r>
              <a:t>IIBA membership (community). https://www.iiba.org/membership/ last checked 2026-10.</a:t>
            </a:r>
          </a:p>
          <a:p>
            <a:pPr>
              <a:defRPr sz="1400"/>
            </a:pPr>
            <a:r>
              <a:t>OMG managed communities (community). https://www.omg.org/communities/ last checked 2026-10.</a:t>
            </a:r>
          </a:p>
          <a:p>
            <a:pPr>
              <a:defRPr sz="1400"/>
            </a:pPr>
            <a:r>
              <a:t>Atlassian, user stories (official). https://www.atlassian.com/agile/project-management/user-stories last checked 2026-10.</a:t>
            </a:r>
          </a:p>
          <a:p>
            <a:pPr>
              <a:defRPr sz="1400"/>
            </a:pPr>
            <a:r>
              <a:t>Gherkin reference (official). https://cucumber.io/docs/gherkin/reference/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Sources and go deeper,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Gherkin (official). https://cucumber.io/docs/gherkin/ last checked 2026-10.</a:t>
            </a:r>
          </a:p>
          <a:p>
            <a:pPr>
              <a:defRPr sz="1400"/>
            </a:pPr>
            <a:r>
              <a:t>Atlassian Agile (official). https://www.atlassian.com/agile last checked 2026-10.</a:t>
            </a:r>
          </a:p>
          <a:p>
            <a:pPr>
              <a:defRPr sz="1400"/>
            </a:pPr>
            <a:r>
              <a:t>Atlassian Community (community). https://community.atlassian.com/ last checked 2026-10.</a:t>
            </a:r>
          </a:p>
          <a:p>
            <a:pPr>
              <a:defRPr sz="1400"/>
            </a:pPr>
            <a:r>
              <a:t>ISO/IEC/IEEE 29148 (standard). confirm. last checked 2026-10.</a:t>
            </a:r>
          </a:p>
          <a:p>
            <a:pPr>
              <a:defRPr sz="1400"/>
            </a:pPr>
            <a:r>
              <a:t>Software requirements specification (wikipedia). https://en.wikipedia.org/wiki/Software_requirements_specification last checked 2026-10.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2356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CypherMonkey Labs · © 2026 CypherMonkeyLabs</a:t>
            </a:r>
          </a:p>
          <a:p>
            <a:r>
              <a:t>Independent, free, learning-only student project. Respects every company and vendor. Trademarks belong to their owners. Not affiliated or endorsed. Concerns are removed or corrected promptly via the contact form at https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45720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Website</a:t>
            </a:r>
          </a:p>
        </p:txBody>
      </p:sp>
      <p:sp>
        <p:nvSpPr>
          <p:cNvPr id="6" name="TextBox 5">
            <a:hlinkClick r:id="rId3"/>
          </p:cNvPr>
          <p:cNvSpPr txBox="1"/>
          <p:nvPr/>
        </p:nvSpPr>
        <p:spPr>
          <a:xfrm>
            <a:off x="256032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GitHub</a:t>
            </a:r>
          </a:p>
        </p:txBody>
      </p:sp>
      <p:sp>
        <p:nvSpPr>
          <p:cNvPr id="7" name="TextBox 6">
            <a:hlinkClick r:id="rId4"/>
          </p:cNvPr>
          <p:cNvSpPr txBox="1"/>
          <p:nvPr/>
        </p:nvSpPr>
        <p:spPr>
          <a:xfrm>
            <a:off x="4663440" y="635508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Profile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