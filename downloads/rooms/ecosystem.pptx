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yphermonkeylabs.com" TargetMode="External"/><Relationship Id="rId3" Type="http://schemas.openxmlformats.org/officeDocument/2006/relationships/hyperlink" Target="https://github.com/CypherMonkeyLabs" TargetMode="External"/><Relationship Id="rId4" Type="http://schemas.openxmlformats.org/officeDocument/2006/relationships/hyperlink" Target="https://linktr.ee/cypherMonkey"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yphermonkeylabs.com" TargetMode="External"/><Relationship Id="rId3" Type="http://schemas.openxmlformats.org/officeDocument/2006/relationships/hyperlink" Target="https://github.com/CypherMonkeyLabs" TargetMode="External"/><Relationship Id="rId4" Type="http://schemas.openxmlformats.org/officeDocument/2006/relationships/hyperlink" Target="https://linktr.ee/cypherMonke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yphermonkeylabs.com" TargetMode="External"/><Relationship Id="rId3" Type="http://schemas.openxmlformats.org/officeDocument/2006/relationships/hyperlink" Target="https://github.com/CypherMonkeyLabs" TargetMode="External"/><Relationship Id="rId4" Type="http://schemas.openxmlformats.org/officeDocument/2006/relationships/hyperlink" Target="https://linktr.ee/cypherMonkey"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155680" cy="731520"/>
          </a:xfrm>
          <a:prstGeom prst="rect">
            <a:avLst/>
          </a:prstGeom>
          <a:noFill/>
        </p:spPr>
        <p:txBody>
          <a:bodyPr wrap="none">
            <a:spAutoFit/>
          </a:bodyPr>
          <a:lstStyle/>
          <a:p>
            <a:pPr>
              <a:defRPr sz="2800" b="1"/>
            </a:pPr>
            <a:r>
              <a:t>Ecosystem</a:t>
            </a:r>
          </a:p>
        </p:txBody>
      </p:sp>
      <p:sp>
        <p:nvSpPr>
          <p:cNvPr id="3" name="TextBox 2"/>
          <p:cNvSpPr txBox="1"/>
          <p:nvPr/>
        </p:nvSpPr>
        <p:spPr>
          <a:xfrm>
            <a:off x="548640" y="1188720"/>
            <a:ext cx="10972800" cy="4206240"/>
          </a:xfrm>
          <a:prstGeom prst="rect">
            <a:avLst/>
          </a:prstGeom>
          <a:noFill/>
        </p:spPr>
        <p:txBody>
          <a:bodyPr wrap="square">
            <a:spAutoFit/>
          </a:bodyPr>
          <a:lstStyle/>
          <a:p>
            <a:pPr>
              <a:defRPr sz="1800"/>
            </a:pPr>
            <a:r>
              <a:t>Glossary links, sister roles, and future hooks.</a:t>
            </a:r>
          </a:p>
          <a:p>
            <a:pPr>
              <a:defRPr sz="1800"/>
            </a:pPr>
            <a:r>
              <a:t>Business Analyst Free University</a:t>
            </a:r>
          </a:p>
        </p:txBody>
      </p:sp>
      <p:sp>
        <p:nvSpPr>
          <p:cNvPr id="4" name="TextBox 3"/>
          <p:cNvSpPr txBox="1"/>
          <p:nvPr/>
        </p:nvSpPr>
        <p:spPr>
          <a:xfrm>
            <a:off x="457200" y="5623560"/>
            <a:ext cx="11155680" cy="1005840"/>
          </a:xfrm>
          <a:prstGeom prst="rect">
            <a:avLst/>
          </a:prstGeom>
          <a:noFill/>
        </p:spPr>
        <p:txBody>
          <a:bodyPr wrap="square">
            <a:spAutoFit/>
          </a:bodyPr>
          <a:lstStyle/>
          <a:p>
            <a:pPr>
              <a:defRPr sz="1000"/>
            </a:pPr>
            <a:r>
              <a:t>CypherMonkey Labs · © 2026 CypherMonkeyLabs</a:t>
            </a:r>
          </a:p>
          <a:p>
            <a:r>
              <a:t>Independent, free, learning-only student project. Respects every company and vendor. Trademarks belong to their owners. Not affiliated or endorsed. Concerns are removed or corrected promptly via the contact form at https</a:t>
            </a:r>
          </a:p>
        </p:txBody>
      </p:sp>
      <p:sp>
        <p:nvSpPr>
          <p:cNvPr id="5" name="TextBox 4">
            <a:hlinkClick r:id="rId2"/>
          </p:cNvPr>
          <p:cNvSpPr txBox="1"/>
          <p:nvPr/>
        </p:nvSpPr>
        <p:spPr>
          <a:xfrm>
            <a:off x="457200" y="6355080"/>
            <a:ext cx="2011680" cy="320040"/>
          </a:xfrm>
          <a:prstGeom prst="rect">
            <a:avLst/>
          </a:prstGeom>
          <a:noFill/>
        </p:spPr>
        <p:txBody>
          <a:bodyPr wrap="none">
            <a:spAutoFit/>
          </a:bodyPr>
          <a:lstStyle/>
          <a:p>
            <a:pPr>
              <a:defRPr sz="1200"/>
            </a:pPr>
            <a:r>
              <a:t>Website</a:t>
            </a:r>
          </a:p>
        </p:txBody>
      </p:sp>
      <p:sp>
        <p:nvSpPr>
          <p:cNvPr id="6" name="TextBox 5">
            <a:hlinkClick r:id="rId3"/>
          </p:cNvPr>
          <p:cNvSpPr txBox="1"/>
          <p:nvPr/>
        </p:nvSpPr>
        <p:spPr>
          <a:xfrm>
            <a:off x="2560320" y="6355080"/>
            <a:ext cx="2011680" cy="320040"/>
          </a:xfrm>
          <a:prstGeom prst="rect">
            <a:avLst/>
          </a:prstGeom>
          <a:noFill/>
        </p:spPr>
        <p:txBody>
          <a:bodyPr wrap="none">
            <a:spAutoFit/>
          </a:bodyPr>
          <a:lstStyle/>
          <a:p>
            <a:pPr>
              <a:defRPr sz="1200"/>
            </a:pPr>
            <a:r>
              <a:t>GitHub</a:t>
            </a:r>
          </a:p>
        </p:txBody>
      </p:sp>
      <p:sp>
        <p:nvSpPr>
          <p:cNvPr id="7" name="TextBox 6">
            <a:hlinkClick r:id="rId4"/>
          </p:cNvPr>
          <p:cNvSpPr txBox="1"/>
          <p:nvPr/>
        </p:nvSpPr>
        <p:spPr>
          <a:xfrm>
            <a:off x="4663440" y="6355080"/>
            <a:ext cx="2011680" cy="320040"/>
          </a:xfrm>
          <a:prstGeom prst="rect">
            <a:avLst/>
          </a:prstGeom>
          <a:noFill/>
        </p:spPr>
        <p:txBody>
          <a:bodyPr wrap="none">
            <a:spAutoFit/>
          </a:bodyPr>
          <a:lstStyle/>
          <a:p>
            <a:pPr>
              <a:defRPr sz="1200"/>
            </a:pPr>
            <a:r>
              <a:t>Profile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155680" cy="731520"/>
          </a:xfrm>
          <a:prstGeom prst="rect">
            <a:avLst/>
          </a:prstGeom>
          <a:noFill/>
        </p:spPr>
        <p:txBody>
          <a:bodyPr wrap="none">
            <a:spAutoFit/>
          </a:bodyPr>
          <a:lstStyle/>
          <a:p>
            <a:pPr>
              <a:defRPr sz="2800" b="1"/>
            </a:pPr>
            <a:r>
              <a:t>In five minutes</a:t>
            </a:r>
          </a:p>
        </p:txBody>
      </p:sp>
      <p:sp>
        <p:nvSpPr>
          <p:cNvPr id="3" name="TextBox 2"/>
          <p:cNvSpPr txBox="1"/>
          <p:nvPr/>
        </p:nvSpPr>
        <p:spPr>
          <a:xfrm>
            <a:off x="548640" y="1188720"/>
            <a:ext cx="10972800" cy="4206240"/>
          </a:xfrm>
          <a:prstGeom prst="rect">
            <a:avLst/>
          </a:prstGeom>
          <a:noFill/>
        </p:spPr>
        <p:txBody>
          <a:bodyPr wrap="square">
            <a:spAutoFit/>
          </a:bodyPr>
          <a:lstStyle/>
          <a:p>
            <a:pPr>
              <a:defRPr sz="1800"/>
            </a:pPr>
            <a:r>
              <a:t>The same techniques show up in product ownership, project delivery, data work, and change. Shared techniques do not mean shared authority. Ask who decides the need, who decides the date, and who accepts the result. This lab uses the BABOK hub as the core public map and cites neighbors only where a page opened.</a:t>
            </a:r>
          </a:p>
        </p:txBody>
      </p:sp>
      <p:sp>
        <p:nvSpPr>
          <p:cNvPr id="4" name="TextBox 3"/>
          <p:cNvSpPr txBox="1"/>
          <p:nvPr/>
        </p:nvSpPr>
        <p:spPr>
          <a:xfrm>
            <a:off x="457200" y="5623560"/>
            <a:ext cx="11155680" cy="1005840"/>
          </a:xfrm>
          <a:prstGeom prst="rect">
            <a:avLst/>
          </a:prstGeom>
          <a:noFill/>
        </p:spPr>
        <p:txBody>
          <a:bodyPr wrap="square">
            <a:spAutoFit/>
          </a:bodyPr>
          <a:lstStyle/>
          <a:p>
            <a:pPr>
              <a:defRPr sz="1000"/>
            </a:pPr>
            <a:r>
              <a:t>CypherMonkey Labs · © 2026 CypherMonkeyLabs</a:t>
            </a:r>
          </a:p>
          <a:p>
            <a:r>
              <a:t>Independent, free, learning-only student project. Respects every company and vendor. Trademarks belong to their owners. Not affiliated or endorsed. Concerns are removed or corrected promptly via the contact form at https</a:t>
            </a:r>
          </a:p>
        </p:txBody>
      </p:sp>
      <p:sp>
        <p:nvSpPr>
          <p:cNvPr id="5" name="TextBox 4">
            <a:hlinkClick r:id="rId2"/>
          </p:cNvPr>
          <p:cNvSpPr txBox="1"/>
          <p:nvPr/>
        </p:nvSpPr>
        <p:spPr>
          <a:xfrm>
            <a:off x="457200" y="6355080"/>
            <a:ext cx="2011680" cy="320040"/>
          </a:xfrm>
          <a:prstGeom prst="rect">
            <a:avLst/>
          </a:prstGeom>
          <a:noFill/>
        </p:spPr>
        <p:txBody>
          <a:bodyPr wrap="none">
            <a:spAutoFit/>
          </a:bodyPr>
          <a:lstStyle/>
          <a:p>
            <a:pPr>
              <a:defRPr sz="1200"/>
            </a:pPr>
            <a:r>
              <a:t>Website</a:t>
            </a:r>
          </a:p>
        </p:txBody>
      </p:sp>
      <p:sp>
        <p:nvSpPr>
          <p:cNvPr id="6" name="TextBox 5">
            <a:hlinkClick r:id="rId3"/>
          </p:cNvPr>
          <p:cNvSpPr txBox="1"/>
          <p:nvPr/>
        </p:nvSpPr>
        <p:spPr>
          <a:xfrm>
            <a:off x="2560320" y="6355080"/>
            <a:ext cx="2011680" cy="320040"/>
          </a:xfrm>
          <a:prstGeom prst="rect">
            <a:avLst/>
          </a:prstGeom>
          <a:noFill/>
        </p:spPr>
        <p:txBody>
          <a:bodyPr wrap="none">
            <a:spAutoFit/>
          </a:bodyPr>
          <a:lstStyle/>
          <a:p>
            <a:pPr>
              <a:defRPr sz="1200"/>
            </a:pPr>
            <a:r>
              <a:t>GitHub</a:t>
            </a:r>
          </a:p>
        </p:txBody>
      </p:sp>
      <p:sp>
        <p:nvSpPr>
          <p:cNvPr id="7" name="TextBox 6">
            <a:hlinkClick r:id="rId4"/>
          </p:cNvPr>
          <p:cNvSpPr txBox="1"/>
          <p:nvPr/>
        </p:nvSpPr>
        <p:spPr>
          <a:xfrm>
            <a:off x="4663440" y="6355080"/>
            <a:ext cx="2011680" cy="320040"/>
          </a:xfrm>
          <a:prstGeom prst="rect">
            <a:avLst/>
          </a:prstGeom>
          <a:noFill/>
        </p:spPr>
        <p:txBody>
          <a:bodyPr wrap="none">
            <a:spAutoFit/>
          </a:bodyPr>
          <a:lstStyle/>
          <a:p>
            <a:pPr>
              <a:defRPr sz="1200"/>
            </a:pPr>
            <a:r>
              <a:t>Profile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155680" cy="731520"/>
          </a:xfrm>
          <a:prstGeom prst="rect">
            <a:avLst/>
          </a:prstGeom>
          <a:noFill/>
        </p:spPr>
        <p:txBody>
          <a:bodyPr wrap="none">
            <a:spAutoFit/>
          </a:bodyPr>
          <a:lstStyle/>
          <a:p>
            <a:pPr>
              <a:defRPr sz="2800" b="1"/>
            </a:pPr>
            <a:r>
              <a:t>Export this room</a:t>
            </a:r>
          </a:p>
        </p:txBody>
      </p:sp>
      <p:sp>
        <p:nvSpPr>
          <p:cNvPr id="3" name="TextBox 2"/>
          <p:cNvSpPr txBox="1"/>
          <p:nvPr/>
        </p:nvSpPr>
        <p:spPr>
          <a:xfrm>
            <a:off x="548640" y="1188720"/>
            <a:ext cx="10972800" cy="4206240"/>
          </a:xfrm>
          <a:prstGeom prst="rect">
            <a:avLst/>
          </a:prstGeom>
          <a:noFill/>
        </p:spPr>
        <p:txBody>
          <a:bodyPr wrap="square">
            <a:spAutoFit/>
          </a:bodyPr>
          <a:lstStyle/>
          <a:p>
            <a:pPr>
              <a:defRPr sz="1800"/>
            </a:pPr>
            <a:r>
              <a:t>PDF, HTML, DOCX, PPTX, and JSON sit beside this deck.</a:t>
            </a:r>
          </a:p>
          <a:p>
            <a:pPr>
              <a:defRPr sz="1800"/>
            </a:pPr>
            <a:r>
              <a:t>Contact is the form on the lab website.</a:t>
            </a:r>
          </a:p>
        </p:txBody>
      </p:sp>
      <p:sp>
        <p:nvSpPr>
          <p:cNvPr id="4" name="TextBox 3"/>
          <p:cNvSpPr txBox="1"/>
          <p:nvPr/>
        </p:nvSpPr>
        <p:spPr>
          <a:xfrm>
            <a:off x="457200" y="5623560"/>
            <a:ext cx="11155680" cy="1005840"/>
          </a:xfrm>
          <a:prstGeom prst="rect">
            <a:avLst/>
          </a:prstGeom>
          <a:noFill/>
        </p:spPr>
        <p:txBody>
          <a:bodyPr wrap="square">
            <a:spAutoFit/>
          </a:bodyPr>
          <a:lstStyle/>
          <a:p>
            <a:pPr>
              <a:defRPr sz="1000"/>
            </a:pPr>
            <a:r>
              <a:t>CypherMonkey Labs · © 2026 CypherMonkeyLabs</a:t>
            </a:r>
          </a:p>
          <a:p>
            <a:r>
              <a:t>Independent, free, learning-only student project. Respects every company and vendor. Trademarks belong to their owners. Not affiliated or endorsed. Concerns are removed or corrected promptly via the contact form at https</a:t>
            </a:r>
          </a:p>
        </p:txBody>
      </p:sp>
      <p:sp>
        <p:nvSpPr>
          <p:cNvPr id="5" name="TextBox 4">
            <a:hlinkClick r:id="rId2"/>
          </p:cNvPr>
          <p:cNvSpPr txBox="1"/>
          <p:nvPr/>
        </p:nvSpPr>
        <p:spPr>
          <a:xfrm>
            <a:off x="457200" y="6355080"/>
            <a:ext cx="2011680" cy="320040"/>
          </a:xfrm>
          <a:prstGeom prst="rect">
            <a:avLst/>
          </a:prstGeom>
          <a:noFill/>
        </p:spPr>
        <p:txBody>
          <a:bodyPr wrap="none">
            <a:spAutoFit/>
          </a:bodyPr>
          <a:lstStyle/>
          <a:p>
            <a:pPr>
              <a:defRPr sz="1200"/>
            </a:pPr>
            <a:r>
              <a:t>Website</a:t>
            </a:r>
          </a:p>
        </p:txBody>
      </p:sp>
      <p:sp>
        <p:nvSpPr>
          <p:cNvPr id="6" name="TextBox 5">
            <a:hlinkClick r:id="rId3"/>
          </p:cNvPr>
          <p:cNvSpPr txBox="1"/>
          <p:nvPr/>
        </p:nvSpPr>
        <p:spPr>
          <a:xfrm>
            <a:off x="2560320" y="6355080"/>
            <a:ext cx="2011680" cy="320040"/>
          </a:xfrm>
          <a:prstGeom prst="rect">
            <a:avLst/>
          </a:prstGeom>
          <a:noFill/>
        </p:spPr>
        <p:txBody>
          <a:bodyPr wrap="none">
            <a:spAutoFit/>
          </a:bodyPr>
          <a:lstStyle/>
          <a:p>
            <a:pPr>
              <a:defRPr sz="1200"/>
            </a:pPr>
            <a:r>
              <a:t>GitHub</a:t>
            </a:r>
          </a:p>
        </p:txBody>
      </p:sp>
      <p:sp>
        <p:nvSpPr>
          <p:cNvPr id="7" name="TextBox 6">
            <a:hlinkClick r:id="rId4"/>
          </p:cNvPr>
          <p:cNvSpPr txBox="1"/>
          <p:nvPr/>
        </p:nvSpPr>
        <p:spPr>
          <a:xfrm>
            <a:off x="4663440" y="6355080"/>
            <a:ext cx="2011680" cy="320040"/>
          </a:xfrm>
          <a:prstGeom prst="rect">
            <a:avLst/>
          </a:prstGeom>
          <a:noFill/>
        </p:spPr>
        <p:txBody>
          <a:bodyPr wrap="none">
            <a:spAutoFit/>
          </a:bodyPr>
          <a:lstStyle/>
          <a:p>
            <a:pPr>
              <a:defRPr sz="1200"/>
            </a:pPr>
            <a:r>
              <a:t>Profile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