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731520"/>
          </a:xfrm>
          <a:prstGeom prst="rect">
            <a:avLst/>
          </a:prstGeom>
          <a:noFill/>
        </p:spPr>
        <p:txBody>
          <a:bodyPr wrap="none">
            <a:spAutoFit/>
          </a:bodyPr>
          <a:lstStyle/>
          <a:p>
            <a:pPr>
              <a:defRPr sz="2800" b="1"/>
            </a:pPr>
            <a:r>
              <a:t>Ecosystem</a:t>
            </a:r>
          </a:p>
        </p:txBody>
      </p:sp>
      <p:sp>
        <p:nvSpPr>
          <p:cNvPr id="3" name="TextBox 2"/>
          <p:cNvSpPr txBox="1"/>
          <p:nvPr/>
        </p:nvSpPr>
        <p:spPr>
          <a:xfrm>
            <a:off x="548640" y="1188720"/>
            <a:ext cx="10972800" cy="4206240"/>
          </a:xfrm>
          <a:prstGeom prst="rect">
            <a:avLst/>
          </a:prstGeom>
          <a:noFill/>
        </p:spPr>
        <p:txBody>
          <a:bodyPr wrap="square">
            <a:spAutoFit/>
          </a:bodyPr>
          <a:lstStyle/>
          <a:p>
            <a:pPr>
              <a:defRPr sz="1800"/>
            </a:pPr>
            <a:r>
              <a:t>Glossary links, sister roles, and future hooks.</a:t>
            </a:r>
          </a:p>
          <a:p>
            <a:pPr>
              <a:defRPr sz="1800"/>
            </a:pPr>
            <a:r>
              <a:t>Business Analyst Free University</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731520"/>
          </a:xfrm>
          <a:prstGeom prst="rect">
            <a:avLst/>
          </a:prstGeom>
          <a:noFill/>
        </p:spPr>
        <p:txBody>
          <a:bodyPr wrap="none">
            <a:spAutoFit/>
          </a:bodyPr>
          <a:lstStyle/>
          <a:p>
            <a:pPr>
              <a:defRPr sz="2800" b="1"/>
            </a:pPr>
            <a:r>
              <a:t>In five minutes</a:t>
            </a:r>
          </a:p>
        </p:txBody>
      </p:sp>
      <p:sp>
        <p:nvSpPr>
          <p:cNvPr id="3" name="TextBox 2"/>
          <p:cNvSpPr txBox="1"/>
          <p:nvPr/>
        </p:nvSpPr>
        <p:spPr>
          <a:xfrm>
            <a:off x="548640" y="1188720"/>
            <a:ext cx="10972800" cy="4206240"/>
          </a:xfrm>
          <a:prstGeom prst="rect">
            <a:avLst/>
          </a:prstGeom>
          <a:noFill/>
        </p:spPr>
        <p:txBody>
          <a:bodyPr wrap="square">
            <a:spAutoFit/>
          </a:bodyPr>
          <a:lstStyle/>
          <a:p>
            <a:pPr>
              <a:defRPr sz="1800"/>
            </a:pPr>
            <a:r>
              <a:t>The same techniques show up in product ownership, project delivery, data work, and change. Shared techniques do not mean shared authority. Ask who decides the need, who decides the date, and who accepts the result. This lab uses the BABOK hub as the core public map and cites neighbors only where a page opened.</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731520"/>
          </a:xfrm>
          <a:prstGeom prst="rect">
            <a:avLst/>
          </a:prstGeom>
          <a:noFill/>
        </p:spPr>
        <p:txBody>
          <a:bodyPr wrap="none">
            <a:spAutoFit/>
          </a:bodyPr>
          <a:lstStyle/>
          <a:p>
            <a:pPr>
              <a:defRPr sz="2800" b="1"/>
            </a:pPr>
            <a:r>
              <a:t>Export this room</a:t>
            </a:r>
          </a:p>
        </p:txBody>
      </p:sp>
      <p:sp>
        <p:nvSpPr>
          <p:cNvPr id="3" name="TextBox 2"/>
          <p:cNvSpPr txBox="1"/>
          <p:nvPr/>
        </p:nvSpPr>
        <p:spPr>
          <a:xfrm>
            <a:off x="548640" y="1188720"/>
            <a:ext cx="10972800" cy="4206240"/>
          </a:xfrm>
          <a:prstGeom prst="rect">
            <a:avLst/>
          </a:prstGeom>
          <a:noFill/>
        </p:spPr>
        <p:txBody>
          <a:bodyPr wrap="square">
            <a:spAutoFit/>
          </a:bodyPr>
          <a:lstStyle/>
          <a:p>
            <a:pPr>
              <a:defRPr sz="1800"/>
            </a:pPr>
            <a:r>
              <a:t>PDF, HTML, DOCX, PPTX, and JSON sit beside this deck.</a:t>
            </a:r>
          </a:p>
          <a:p>
            <a:pPr>
              <a:defRPr sz="1800"/>
            </a:pPr>
            <a:r>
              <a:t>Contact is the form on the lab website.</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