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Contact-center migration</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Business-analysis artifacts for a legacy contact center moving to the cloud.</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In five minutes</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AWS Prescriptive Guidance for a Connect migration recommends three parallel workstreams: operational, technical foundation, and user journeys. The analyst's artifacts sit mostly on the first and the third: outcomes, a journey workshop with named placeholder owners, a RASCI operating model that is not a runbook, acceptance scripts, training, and the metric definitions you will call expected on cutover day. Test functionally before business users accept. Cut over by moving the public number, and roll back by pointing it at the legacy line. The guidance diagram has no durations. Do not invent one.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Export this room</a:t>
            </a:r>
          </a:p>
        </p:txBody>
      </p:sp>
      <p:sp>
        <p:nvSpPr>
          <p:cNvPr id="3" name="TextBox 2"/>
          <p:cNvSpPr txBox="1"/>
          <p:nvPr/>
        </p:nvSpPr>
        <p:spPr>
          <a:xfrm>
            <a:off x="548640" y="1051560"/>
            <a:ext cx="10972800" cy="429768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IIBA KnowledgeHub, including the BABOK Guide contents (standard). https://www.iiba.org/knowledgehub/ last checked 2026-10.</a:t>
            </a:r>
          </a:p>
          <a:p>
            <a:pPr>
              <a:defRPr sz="1400"/>
            </a:pPr>
            <a:r>
              <a:t>BABOK Guide article on the IIBA knowledge hub (standard). confirm. last checked 2026-10.</a:t>
            </a:r>
          </a:p>
          <a:p>
            <a:pPr>
              <a:defRPr sz="1400"/>
            </a:pPr>
            <a:r>
              <a:t>IIBA home (official). https://www.iiba.org/ last checked 2026-10.</a:t>
            </a:r>
          </a:p>
          <a:p>
            <a:pPr>
              <a:defRPr sz="1400"/>
            </a:pPr>
            <a:r>
              <a:t>Manifesto for Agile Software Development (standard). https://agilemanifesto.org/ last checked 2026-10.</a:t>
            </a:r>
          </a:p>
          <a:p>
            <a:pPr>
              <a:defRPr sz="1400"/>
            </a:pPr>
            <a:r>
              <a:t>Principles behind the Agile Manifesto (standard). https://agilemanifesto.org/principles.html last checked 2026-10.</a:t>
            </a:r>
          </a:p>
          <a:p>
            <a:pPr>
              <a:defRPr sz="1400"/>
            </a:pPr>
            <a:r>
              <a:t>OMG, about BPMN 2.0 (standard). https://www.omg.org/spec/BPMN/2.0/About-BPMN last checked 2026-10.</a:t>
            </a:r>
          </a:p>
          <a:p>
            <a:pPr>
              <a:defRPr sz="1400"/>
            </a:pPr>
            <a:r>
              <a:t>BPMN 2.0 specification PDF (standard). https://www.omg.org/spec/BPMN/2.0/PDF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OMG, about BPMN 2.0.2 (standard). https://www.omg.org/spec/BPMN/2.0.2/About-BPMN last checked 2026-10.</a:t>
            </a:r>
          </a:p>
          <a:p>
            <a:pPr>
              <a:defRPr sz="1400"/>
            </a:pPr>
            <a:r>
              <a:t>OMG, about UML 2.5.1 (standard). https://www.omg.org/spec/UML/2.5.1/About-UML last checked 2026-10.</a:t>
            </a:r>
          </a:p>
          <a:p>
            <a:pPr>
              <a:defRPr sz="1400"/>
            </a:pPr>
            <a:r>
              <a:t>UML 2.5.1 specification PDF (standard). https://www.omg.org/spec/UML/2.5.1/PDF last checked 2026-10.</a:t>
            </a:r>
          </a:p>
          <a:p>
            <a:pPr>
              <a:defRPr sz="1400"/>
            </a:pPr>
            <a:r>
              <a:t>IIBA membership (community). https://www.iiba.org/membership/ last checked 2026-10.</a:t>
            </a:r>
          </a:p>
          <a:p>
            <a:pPr>
              <a:defRPr sz="1400"/>
            </a:pPr>
            <a:r>
              <a:t>OMG managed communities (community). https://www.omg.org/communities/ last checked 2026-10.</a:t>
            </a:r>
          </a:p>
          <a:p>
            <a:pPr>
              <a:defRPr sz="1400"/>
            </a:pPr>
            <a:r>
              <a:t>AWS Prescriptive Guidance, project phases and workstreams (official). https://docs.aws.amazon.com/prescriptive-guidance/latest/strategy-migration-connect/workstreams.html last checked 2026-10.</a:t>
            </a:r>
          </a:p>
          <a:p>
            <a:pPr>
              <a:defRPr sz="1400"/>
            </a:pPr>
            <a:r>
              <a:t>AWS Prescriptive Guidance, user journeys workstream (official). https://docs.aws.amazon.com/prescriptive-guidance/latest/strategy-migration-connect/user-journeys.html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640080"/>
          </a:xfrm>
          <a:prstGeom prst="rect">
            <a:avLst/>
          </a:prstGeom>
          <a:noFill/>
        </p:spPr>
        <p:txBody>
          <a:bodyPr wrap="none">
            <a:spAutoFit/>
          </a:bodyPr>
          <a:lstStyle/>
          <a:p>
            <a:pPr>
              <a:defRPr sz="2800" b="1"/>
            </a:pPr>
            <a:r>
              <a:t>Sources and go deeper, continued</a:t>
            </a:r>
          </a:p>
        </p:txBody>
      </p:sp>
      <p:sp>
        <p:nvSpPr>
          <p:cNvPr id="3" name="TextBox 2"/>
          <p:cNvSpPr txBox="1"/>
          <p:nvPr/>
        </p:nvSpPr>
        <p:spPr>
          <a:xfrm>
            <a:off x="548640" y="1051560"/>
            <a:ext cx="10972800" cy="4297680"/>
          </a:xfrm>
          <a:prstGeom prst="rect">
            <a:avLst/>
          </a:prstGeom>
          <a:noFill/>
        </p:spPr>
        <p:txBody>
          <a:bodyPr wrap="square">
            <a:spAutoFit/>
          </a:bodyPr>
          <a:lstStyle/>
          <a:p>
            <a:pPr>
              <a:defRPr sz="1400"/>
            </a:pPr>
            <a:r>
              <a:t>AWS Prescriptive Guidance, operational workstream (official). https://docs.aws.amazon.com/prescriptive-guidance/latest/strategy-migration-connect/operational.html last checked 2026-10.</a:t>
            </a:r>
          </a:p>
          <a:p>
            <a:pPr>
              <a:defRPr sz="1400"/>
            </a:pPr>
            <a:r>
              <a:t>AWS Prescriptive Guidance, migration checklists (official). https://docs.aws.amazon.com/prescriptive-guidance/latest/strategy-migration-connect/checklist.html last checked 2026-10.</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Names in the contact-center rooms are citations of pages opened in Octob</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