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731520"/>
          </a:xfrm>
          <a:prstGeom prst="rect">
            <a:avLst/>
          </a:prstGeom>
          <a:noFill/>
        </p:spPr>
        <p:txBody>
          <a:bodyPr wrap="none">
            <a:spAutoFit/>
          </a:bodyPr>
          <a:lstStyle/>
          <a:p>
            <a:pPr>
              <a:defRPr sz="2800" b="1"/>
            </a:pPr>
            <a:r>
              <a:t>Product craft</a:t>
            </a:r>
          </a:p>
        </p:txBody>
      </p:sp>
      <p:sp>
        <p:nvSpPr>
          <p:cNvPr id="3" name="TextBox 2"/>
          <p:cNvSpPr txBox="1"/>
          <p:nvPr/>
        </p:nvSpPr>
        <p:spPr>
          <a:xfrm>
            <a:off x="548640" y="1188720"/>
            <a:ext cx="10972800" cy="4206240"/>
          </a:xfrm>
          <a:prstGeom prst="rect">
            <a:avLst/>
          </a:prstGeom>
          <a:noFill/>
        </p:spPr>
        <p:txBody>
          <a:bodyPr wrap="square">
            <a:spAutoFit/>
          </a:bodyPr>
          <a:lstStyle/>
          <a:p>
            <a:pPr>
              <a:defRPr sz="1800"/>
            </a:pPr>
            <a:r>
              <a:t>Discovery, business case, change, risk, and vendors.</a:t>
            </a:r>
          </a:p>
          <a:p>
            <a:pPr>
              <a:defRPr sz="1800"/>
            </a:pPr>
            <a:r>
              <a:t>Business Analyst Free University</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731520"/>
          </a:xfrm>
          <a:prstGeom prst="rect">
            <a:avLst/>
          </a:prstGeom>
          <a:noFill/>
        </p:spPr>
        <p:txBody>
          <a:bodyPr wrap="none">
            <a:spAutoFit/>
          </a:bodyPr>
          <a:lstStyle/>
          <a:p>
            <a:pPr>
              <a:defRPr sz="2800" b="1"/>
            </a:pPr>
            <a:r>
              <a:t>In five minutes</a:t>
            </a:r>
          </a:p>
        </p:txBody>
      </p:sp>
      <p:sp>
        <p:nvSpPr>
          <p:cNvPr id="3" name="TextBox 2"/>
          <p:cNvSpPr txBox="1"/>
          <p:nvPr/>
        </p:nvSpPr>
        <p:spPr>
          <a:xfrm>
            <a:off x="548640" y="1188720"/>
            <a:ext cx="10972800" cy="4206240"/>
          </a:xfrm>
          <a:prstGeom prst="rect">
            <a:avLst/>
          </a:prstGeom>
          <a:noFill/>
        </p:spPr>
        <p:txBody>
          <a:bodyPr wrap="square">
            <a:spAutoFit/>
          </a:bodyPr>
          <a:lstStyle/>
          <a:p>
            <a:pPr>
              <a:defRPr sz="1800"/>
            </a:pPr>
            <a:r>
              <a:t>Discovery restates the job before the feature. A business case lists options, including do nothing, and only the costs and benefits you can source. Change work names awareness, desire, knowledge, ability, and reinforcement, the words on the Prosci page. Vendor choice weights the criteria before the demos.</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731520"/>
          </a:xfrm>
          <a:prstGeom prst="rect">
            <a:avLst/>
          </a:prstGeom>
          <a:noFill/>
        </p:spPr>
        <p:txBody>
          <a:bodyPr wrap="none">
            <a:spAutoFit/>
          </a:bodyPr>
          <a:lstStyle/>
          <a:p>
            <a:pPr>
              <a:defRPr sz="2800" b="1"/>
            </a:pPr>
            <a:r>
              <a:t>Export this room</a:t>
            </a:r>
          </a:p>
        </p:txBody>
      </p:sp>
      <p:sp>
        <p:nvSpPr>
          <p:cNvPr id="3" name="TextBox 2"/>
          <p:cNvSpPr txBox="1"/>
          <p:nvPr/>
        </p:nvSpPr>
        <p:spPr>
          <a:xfrm>
            <a:off x="548640" y="1188720"/>
            <a:ext cx="10972800" cy="4206240"/>
          </a:xfrm>
          <a:prstGeom prst="rect">
            <a:avLst/>
          </a:prstGeom>
          <a:noFill/>
        </p:spPr>
        <p:txBody>
          <a:bodyPr wrap="square">
            <a:spAutoFit/>
          </a:bodyPr>
          <a:lstStyle/>
          <a:p>
            <a:pPr>
              <a:defRPr sz="1800"/>
            </a:pPr>
            <a:r>
              <a:t>PDF, HTML, DOCX, PPTX, and JSON sit beside this deck.</a:t>
            </a:r>
          </a:p>
          <a:p>
            <a:pPr>
              <a:defRPr sz="1800"/>
            </a:pPr>
            <a:r>
              <a:t>Contact is the form on the lab website.</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