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yphermonkeylabs.com" TargetMode="External"/><Relationship Id="rId3" Type="http://schemas.openxmlformats.org/officeDocument/2006/relationships/hyperlink" Target="https://github.com/CypherMonkeyLabs" TargetMode="External"/><Relationship Id="rId4" Type="http://schemas.openxmlformats.org/officeDocument/2006/relationships/hyperlink" Target="https://linktr.ee/cypherMonkey"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yphermonkeylabs.com" TargetMode="External"/><Relationship Id="rId3" Type="http://schemas.openxmlformats.org/officeDocument/2006/relationships/hyperlink" Target="https://github.com/CypherMonkeyLabs" TargetMode="External"/><Relationship Id="rId4" Type="http://schemas.openxmlformats.org/officeDocument/2006/relationships/hyperlink" Target="https://linktr.ee/cypherMonkey"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yphermonkeylabs.com" TargetMode="External"/><Relationship Id="rId3" Type="http://schemas.openxmlformats.org/officeDocument/2006/relationships/hyperlink" Target="https://github.com/CypherMonkeyLabs" TargetMode="External"/><Relationship Id="rId4" Type="http://schemas.openxmlformats.org/officeDocument/2006/relationships/hyperlink" Target="https://linktr.ee/cypherMonkey"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yphermonkeylabs.com" TargetMode="External"/><Relationship Id="rId3" Type="http://schemas.openxmlformats.org/officeDocument/2006/relationships/hyperlink" Target="https://github.com/CypherMonkeyLabs" TargetMode="External"/><Relationship Id="rId4" Type="http://schemas.openxmlformats.org/officeDocument/2006/relationships/hyperlink" Target="https://linktr.ee/cypherMonkey"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yphermonkeylabs.com" TargetMode="External"/><Relationship Id="rId3" Type="http://schemas.openxmlformats.org/officeDocument/2006/relationships/hyperlink" Target="https://github.com/CypherMonkeyLabs" TargetMode="External"/><Relationship Id="rId4" Type="http://schemas.openxmlformats.org/officeDocument/2006/relationships/hyperlink" Target="https://linktr.ee/cypherMonkey"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yphermonkeylabs.com" TargetMode="External"/><Relationship Id="rId3" Type="http://schemas.openxmlformats.org/officeDocument/2006/relationships/hyperlink" Target="https://github.com/CypherMonkeyLabs" TargetMode="External"/><Relationship Id="rId4" Type="http://schemas.openxmlformats.org/officeDocument/2006/relationships/hyperlink" Target="https://linktr.ee/cypherMonkey"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155680" cy="640080"/>
          </a:xfrm>
          <a:prstGeom prst="rect">
            <a:avLst/>
          </a:prstGeom>
          <a:noFill/>
        </p:spPr>
        <p:txBody>
          <a:bodyPr wrap="none">
            <a:spAutoFit/>
          </a:bodyPr>
          <a:lstStyle/>
          <a:p>
            <a:pPr>
              <a:defRPr sz="2800" b="1"/>
            </a:pPr>
            <a:r>
              <a:t>Omnichannel journeys</a:t>
            </a:r>
          </a:p>
        </p:txBody>
      </p:sp>
      <p:sp>
        <p:nvSpPr>
          <p:cNvPr id="3" name="TextBox 2"/>
          <p:cNvSpPr txBox="1"/>
          <p:nvPr/>
        </p:nvSpPr>
        <p:spPr>
          <a:xfrm>
            <a:off x="548640" y="1051560"/>
            <a:ext cx="10972800" cy="4297680"/>
          </a:xfrm>
          <a:prstGeom prst="rect">
            <a:avLst/>
          </a:prstGeom>
          <a:noFill/>
        </p:spPr>
        <p:txBody>
          <a:bodyPr wrap="square">
            <a:spAutoFit/>
          </a:bodyPr>
          <a:lstStyle/>
          <a:p>
            <a:pPr>
              <a:defRPr sz="1800"/>
            </a:pPr>
            <a:r>
              <a:t>Journey maps and requirements across voice, chat, SMS, WhatsApp, email, and social.</a:t>
            </a:r>
          </a:p>
          <a:p>
            <a:pPr>
              <a:defRPr sz="1800"/>
            </a:pPr>
            <a:r>
              <a:t>Business Analyst Free University</a:t>
            </a:r>
          </a:p>
        </p:txBody>
      </p:sp>
      <p:sp>
        <p:nvSpPr>
          <p:cNvPr id="4" name="TextBox 3"/>
          <p:cNvSpPr txBox="1"/>
          <p:nvPr/>
        </p:nvSpPr>
        <p:spPr>
          <a:xfrm>
            <a:off x="457200" y="5623560"/>
            <a:ext cx="11155680" cy="1005840"/>
          </a:xfrm>
          <a:prstGeom prst="rect">
            <a:avLst/>
          </a:prstGeom>
          <a:noFill/>
        </p:spPr>
        <p:txBody>
          <a:bodyPr wrap="square">
            <a:spAutoFit/>
          </a:bodyPr>
          <a:lstStyle/>
          <a:p>
            <a:pPr>
              <a:defRPr sz="1000"/>
            </a:pPr>
            <a:r>
              <a:t>CypherMonkey Labs · © 2026 CypherMonkeyLabs</a:t>
            </a:r>
          </a:p>
          <a:p>
            <a:r>
              <a:t>Independent, free, learning-only student project. Respects every company and vendor. Trademarks belong to their owners. Not affiliated or endorsed. Names in the contact-center rooms are citations of pages opened in Octob</a:t>
            </a:r>
          </a:p>
        </p:txBody>
      </p:sp>
      <p:sp>
        <p:nvSpPr>
          <p:cNvPr id="5" name="TextBox 4">
            <a:hlinkClick r:id="rId2"/>
          </p:cNvPr>
          <p:cNvSpPr txBox="1"/>
          <p:nvPr/>
        </p:nvSpPr>
        <p:spPr>
          <a:xfrm>
            <a:off x="457200" y="6355080"/>
            <a:ext cx="2011680" cy="320040"/>
          </a:xfrm>
          <a:prstGeom prst="rect">
            <a:avLst/>
          </a:prstGeom>
          <a:noFill/>
        </p:spPr>
        <p:txBody>
          <a:bodyPr wrap="none">
            <a:spAutoFit/>
          </a:bodyPr>
          <a:lstStyle/>
          <a:p>
            <a:pPr>
              <a:defRPr sz="1200"/>
            </a:pPr>
            <a:r>
              <a:t>Website</a:t>
            </a:r>
          </a:p>
        </p:txBody>
      </p:sp>
      <p:sp>
        <p:nvSpPr>
          <p:cNvPr id="6" name="TextBox 5">
            <a:hlinkClick r:id="rId3"/>
          </p:cNvPr>
          <p:cNvSpPr txBox="1"/>
          <p:nvPr/>
        </p:nvSpPr>
        <p:spPr>
          <a:xfrm>
            <a:off x="2560320" y="6355080"/>
            <a:ext cx="2011680" cy="320040"/>
          </a:xfrm>
          <a:prstGeom prst="rect">
            <a:avLst/>
          </a:prstGeom>
          <a:noFill/>
        </p:spPr>
        <p:txBody>
          <a:bodyPr wrap="none">
            <a:spAutoFit/>
          </a:bodyPr>
          <a:lstStyle/>
          <a:p>
            <a:pPr>
              <a:defRPr sz="1200"/>
            </a:pPr>
            <a:r>
              <a:t>GitHub</a:t>
            </a:r>
          </a:p>
        </p:txBody>
      </p:sp>
      <p:sp>
        <p:nvSpPr>
          <p:cNvPr id="7" name="TextBox 6">
            <a:hlinkClick r:id="rId4"/>
          </p:cNvPr>
          <p:cNvSpPr txBox="1"/>
          <p:nvPr/>
        </p:nvSpPr>
        <p:spPr>
          <a:xfrm>
            <a:off x="4663440" y="6355080"/>
            <a:ext cx="2011680" cy="320040"/>
          </a:xfrm>
          <a:prstGeom prst="rect">
            <a:avLst/>
          </a:prstGeom>
          <a:noFill/>
        </p:spPr>
        <p:txBody>
          <a:bodyPr wrap="none">
            <a:spAutoFit/>
          </a:bodyPr>
          <a:lstStyle/>
          <a:p>
            <a:pPr>
              <a:defRPr sz="1200"/>
            </a:pPr>
            <a:r>
              <a:t>Profile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155680" cy="640080"/>
          </a:xfrm>
          <a:prstGeom prst="rect">
            <a:avLst/>
          </a:prstGeom>
          <a:noFill/>
        </p:spPr>
        <p:txBody>
          <a:bodyPr wrap="none">
            <a:spAutoFit/>
          </a:bodyPr>
          <a:lstStyle/>
          <a:p>
            <a:pPr>
              <a:defRPr sz="2800" b="1"/>
            </a:pPr>
            <a:r>
              <a:t>In five minutes</a:t>
            </a:r>
          </a:p>
        </p:txBody>
      </p:sp>
      <p:sp>
        <p:nvSpPr>
          <p:cNvPr id="3" name="TextBox 2"/>
          <p:cNvSpPr txBox="1"/>
          <p:nvPr/>
        </p:nvSpPr>
        <p:spPr>
          <a:xfrm>
            <a:off x="548640" y="1051560"/>
            <a:ext cx="10972800" cy="4297680"/>
          </a:xfrm>
          <a:prstGeom prst="rect">
            <a:avLst/>
          </a:prstGeom>
          <a:noFill/>
        </p:spPr>
        <p:txBody>
          <a:bodyPr wrap="square">
            <a:spAutoFit/>
          </a:bodyPr>
          <a:lstStyle/>
          <a:p>
            <a:pPr>
              <a:defRPr sz="1800"/>
            </a:pPr>
            <a:r>
              <a:t>A journey map, as Nielsen Norman Group defines it, shows one person accomplishing one goal: actor, scenario, phases, what they do and feel, and the opportunities. A contact center then has to say which channels are in scope. The Connect Customer overview lists voice, chat and SMS, messaging apps, email, tasks, and web or video. WhatsApp, on its setup page, needs a business account, a number Meta can verify, and an inbound flow, and verification can take up to two weeks. The requirement is the context that travels with the person, the handoff to a human, and the measure. A second actor is a second map.</a:t>
            </a:r>
          </a:p>
        </p:txBody>
      </p:sp>
      <p:sp>
        <p:nvSpPr>
          <p:cNvPr id="4" name="TextBox 3"/>
          <p:cNvSpPr txBox="1"/>
          <p:nvPr/>
        </p:nvSpPr>
        <p:spPr>
          <a:xfrm>
            <a:off x="457200" y="5623560"/>
            <a:ext cx="11155680" cy="1005840"/>
          </a:xfrm>
          <a:prstGeom prst="rect">
            <a:avLst/>
          </a:prstGeom>
          <a:noFill/>
        </p:spPr>
        <p:txBody>
          <a:bodyPr wrap="square">
            <a:spAutoFit/>
          </a:bodyPr>
          <a:lstStyle/>
          <a:p>
            <a:pPr>
              <a:defRPr sz="1000"/>
            </a:pPr>
            <a:r>
              <a:t>CypherMonkey Labs · © 2026 CypherMonkeyLabs</a:t>
            </a:r>
          </a:p>
          <a:p>
            <a:r>
              <a:t>Independent, free, learning-only student project. Respects every company and vendor. Trademarks belong to their owners. Not affiliated or endorsed. Names in the contact-center rooms are citations of pages opened in Octob</a:t>
            </a:r>
          </a:p>
        </p:txBody>
      </p:sp>
      <p:sp>
        <p:nvSpPr>
          <p:cNvPr id="5" name="TextBox 4">
            <a:hlinkClick r:id="rId2"/>
          </p:cNvPr>
          <p:cNvSpPr txBox="1"/>
          <p:nvPr/>
        </p:nvSpPr>
        <p:spPr>
          <a:xfrm>
            <a:off x="457200" y="6355080"/>
            <a:ext cx="2011680" cy="320040"/>
          </a:xfrm>
          <a:prstGeom prst="rect">
            <a:avLst/>
          </a:prstGeom>
          <a:noFill/>
        </p:spPr>
        <p:txBody>
          <a:bodyPr wrap="none">
            <a:spAutoFit/>
          </a:bodyPr>
          <a:lstStyle/>
          <a:p>
            <a:pPr>
              <a:defRPr sz="1200"/>
            </a:pPr>
            <a:r>
              <a:t>Website</a:t>
            </a:r>
          </a:p>
        </p:txBody>
      </p:sp>
      <p:sp>
        <p:nvSpPr>
          <p:cNvPr id="6" name="TextBox 5">
            <a:hlinkClick r:id="rId3"/>
          </p:cNvPr>
          <p:cNvSpPr txBox="1"/>
          <p:nvPr/>
        </p:nvSpPr>
        <p:spPr>
          <a:xfrm>
            <a:off x="2560320" y="6355080"/>
            <a:ext cx="2011680" cy="320040"/>
          </a:xfrm>
          <a:prstGeom prst="rect">
            <a:avLst/>
          </a:prstGeom>
          <a:noFill/>
        </p:spPr>
        <p:txBody>
          <a:bodyPr wrap="none">
            <a:spAutoFit/>
          </a:bodyPr>
          <a:lstStyle/>
          <a:p>
            <a:pPr>
              <a:defRPr sz="1200"/>
            </a:pPr>
            <a:r>
              <a:t>GitHub</a:t>
            </a:r>
          </a:p>
        </p:txBody>
      </p:sp>
      <p:sp>
        <p:nvSpPr>
          <p:cNvPr id="7" name="TextBox 6">
            <a:hlinkClick r:id="rId4"/>
          </p:cNvPr>
          <p:cNvSpPr txBox="1"/>
          <p:nvPr/>
        </p:nvSpPr>
        <p:spPr>
          <a:xfrm>
            <a:off x="4663440" y="6355080"/>
            <a:ext cx="2011680" cy="320040"/>
          </a:xfrm>
          <a:prstGeom prst="rect">
            <a:avLst/>
          </a:prstGeom>
          <a:noFill/>
        </p:spPr>
        <p:txBody>
          <a:bodyPr wrap="none">
            <a:spAutoFit/>
          </a:bodyPr>
          <a:lstStyle/>
          <a:p>
            <a:pPr>
              <a:defRPr sz="1200"/>
            </a:pPr>
            <a:r>
              <a:t>Profile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155680" cy="640080"/>
          </a:xfrm>
          <a:prstGeom prst="rect">
            <a:avLst/>
          </a:prstGeom>
          <a:noFill/>
        </p:spPr>
        <p:txBody>
          <a:bodyPr wrap="none">
            <a:spAutoFit/>
          </a:bodyPr>
          <a:lstStyle/>
          <a:p>
            <a:pPr>
              <a:defRPr sz="2800" b="1"/>
            </a:pPr>
            <a:r>
              <a:t>Export this room</a:t>
            </a:r>
          </a:p>
        </p:txBody>
      </p:sp>
      <p:sp>
        <p:nvSpPr>
          <p:cNvPr id="3" name="TextBox 2"/>
          <p:cNvSpPr txBox="1"/>
          <p:nvPr/>
        </p:nvSpPr>
        <p:spPr>
          <a:xfrm>
            <a:off x="548640" y="1051560"/>
            <a:ext cx="10972800" cy="4297680"/>
          </a:xfrm>
          <a:prstGeom prst="rect">
            <a:avLst/>
          </a:prstGeom>
          <a:noFill/>
        </p:spPr>
        <p:txBody>
          <a:bodyPr wrap="square">
            <a:spAutoFit/>
          </a:bodyPr>
          <a:lstStyle/>
          <a:p>
            <a:pPr>
              <a:defRPr sz="1800"/>
            </a:pPr>
            <a:r>
              <a:t>PDF, HTML, DOCX, PPTX, and JSON sit beside this deck.</a:t>
            </a:r>
          </a:p>
          <a:p>
            <a:pPr>
              <a:defRPr sz="1800"/>
            </a:pPr>
            <a:r>
              <a:t>Contact is the form on the lab website.</a:t>
            </a:r>
          </a:p>
        </p:txBody>
      </p:sp>
      <p:sp>
        <p:nvSpPr>
          <p:cNvPr id="4" name="TextBox 3"/>
          <p:cNvSpPr txBox="1"/>
          <p:nvPr/>
        </p:nvSpPr>
        <p:spPr>
          <a:xfrm>
            <a:off x="457200" y="5623560"/>
            <a:ext cx="11155680" cy="1005840"/>
          </a:xfrm>
          <a:prstGeom prst="rect">
            <a:avLst/>
          </a:prstGeom>
          <a:noFill/>
        </p:spPr>
        <p:txBody>
          <a:bodyPr wrap="square">
            <a:spAutoFit/>
          </a:bodyPr>
          <a:lstStyle/>
          <a:p>
            <a:pPr>
              <a:defRPr sz="1000"/>
            </a:pPr>
            <a:r>
              <a:t>CypherMonkey Labs · © 2026 CypherMonkeyLabs</a:t>
            </a:r>
          </a:p>
          <a:p>
            <a:r>
              <a:t>Independent, free, learning-only student project. Respects every company and vendor. Trademarks belong to their owners. Not affiliated or endorsed. Names in the contact-center rooms are citations of pages opened in Octob</a:t>
            </a:r>
          </a:p>
        </p:txBody>
      </p:sp>
      <p:sp>
        <p:nvSpPr>
          <p:cNvPr id="5" name="TextBox 4">
            <a:hlinkClick r:id="rId2"/>
          </p:cNvPr>
          <p:cNvSpPr txBox="1"/>
          <p:nvPr/>
        </p:nvSpPr>
        <p:spPr>
          <a:xfrm>
            <a:off x="457200" y="6355080"/>
            <a:ext cx="2011680" cy="320040"/>
          </a:xfrm>
          <a:prstGeom prst="rect">
            <a:avLst/>
          </a:prstGeom>
          <a:noFill/>
        </p:spPr>
        <p:txBody>
          <a:bodyPr wrap="none">
            <a:spAutoFit/>
          </a:bodyPr>
          <a:lstStyle/>
          <a:p>
            <a:pPr>
              <a:defRPr sz="1200"/>
            </a:pPr>
            <a:r>
              <a:t>Website</a:t>
            </a:r>
          </a:p>
        </p:txBody>
      </p:sp>
      <p:sp>
        <p:nvSpPr>
          <p:cNvPr id="6" name="TextBox 5">
            <a:hlinkClick r:id="rId3"/>
          </p:cNvPr>
          <p:cNvSpPr txBox="1"/>
          <p:nvPr/>
        </p:nvSpPr>
        <p:spPr>
          <a:xfrm>
            <a:off x="2560320" y="6355080"/>
            <a:ext cx="2011680" cy="320040"/>
          </a:xfrm>
          <a:prstGeom prst="rect">
            <a:avLst/>
          </a:prstGeom>
          <a:noFill/>
        </p:spPr>
        <p:txBody>
          <a:bodyPr wrap="none">
            <a:spAutoFit/>
          </a:bodyPr>
          <a:lstStyle/>
          <a:p>
            <a:pPr>
              <a:defRPr sz="1200"/>
            </a:pPr>
            <a:r>
              <a:t>GitHub</a:t>
            </a:r>
          </a:p>
        </p:txBody>
      </p:sp>
      <p:sp>
        <p:nvSpPr>
          <p:cNvPr id="7" name="TextBox 6">
            <a:hlinkClick r:id="rId4"/>
          </p:cNvPr>
          <p:cNvSpPr txBox="1"/>
          <p:nvPr/>
        </p:nvSpPr>
        <p:spPr>
          <a:xfrm>
            <a:off x="4663440" y="6355080"/>
            <a:ext cx="2011680" cy="320040"/>
          </a:xfrm>
          <a:prstGeom prst="rect">
            <a:avLst/>
          </a:prstGeom>
          <a:noFill/>
        </p:spPr>
        <p:txBody>
          <a:bodyPr wrap="none">
            <a:spAutoFit/>
          </a:bodyPr>
          <a:lstStyle/>
          <a:p>
            <a:pPr>
              <a:defRPr sz="1200"/>
            </a:pPr>
            <a:r>
              <a:t>Profile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155680" cy="640080"/>
          </a:xfrm>
          <a:prstGeom prst="rect">
            <a:avLst/>
          </a:prstGeom>
          <a:noFill/>
        </p:spPr>
        <p:txBody>
          <a:bodyPr wrap="none">
            <a:spAutoFit/>
          </a:bodyPr>
          <a:lstStyle/>
          <a:p>
            <a:pPr>
              <a:defRPr sz="2800" b="1"/>
            </a:pPr>
            <a:r>
              <a:t>Sources and go deeper</a:t>
            </a:r>
          </a:p>
        </p:txBody>
      </p:sp>
      <p:sp>
        <p:nvSpPr>
          <p:cNvPr id="3" name="TextBox 2"/>
          <p:cNvSpPr txBox="1"/>
          <p:nvPr/>
        </p:nvSpPr>
        <p:spPr>
          <a:xfrm>
            <a:off x="548640" y="1051560"/>
            <a:ext cx="10972800" cy="4297680"/>
          </a:xfrm>
          <a:prstGeom prst="rect">
            <a:avLst/>
          </a:prstGeom>
          <a:noFill/>
        </p:spPr>
        <p:txBody>
          <a:bodyPr wrap="square">
            <a:spAutoFit/>
          </a:bodyPr>
          <a:lstStyle/>
          <a:p>
            <a:pPr>
              <a:defRPr sz="1400"/>
            </a:pPr>
            <a:r>
              <a:t>IIBA KnowledgeHub, including the BABOK Guide contents (standard). https://www.iiba.org/knowledgehub/ last checked 2026-10.</a:t>
            </a:r>
          </a:p>
          <a:p>
            <a:pPr>
              <a:defRPr sz="1400"/>
            </a:pPr>
            <a:r>
              <a:t>BABOK Guide article on the IIBA knowledge hub (standard). confirm. last checked 2026-10.</a:t>
            </a:r>
          </a:p>
          <a:p>
            <a:pPr>
              <a:defRPr sz="1400"/>
            </a:pPr>
            <a:r>
              <a:t>IIBA home (official). https://www.iiba.org/ last checked 2026-10.</a:t>
            </a:r>
          </a:p>
          <a:p>
            <a:pPr>
              <a:defRPr sz="1400"/>
            </a:pPr>
            <a:r>
              <a:t>Manifesto for Agile Software Development (standard). https://agilemanifesto.org/ last checked 2026-10.</a:t>
            </a:r>
          </a:p>
          <a:p>
            <a:pPr>
              <a:defRPr sz="1400"/>
            </a:pPr>
            <a:r>
              <a:t>Principles behind the Agile Manifesto (standard). https://agilemanifesto.org/principles.html last checked 2026-10.</a:t>
            </a:r>
          </a:p>
          <a:p>
            <a:pPr>
              <a:defRPr sz="1400"/>
            </a:pPr>
            <a:r>
              <a:t>OMG, about BPMN 2.0 (standard). https://www.omg.org/spec/BPMN/2.0/About-BPMN last checked 2026-10.</a:t>
            </a:r>
          </a:p>
          <a:p>
            <a:pPr>
              <a:defRPr sz="1400"/>
            </a:pPr>
            <a:r>
              <a:t>BPMN 2.0 specification PDF (standard). https://www.omg.org/spec/BPMN/2.0/PDF last checked 2026-10.</a:t>
            </a:r>
          </a:p>
        </p:txBody>
      </p:sp>
      <p:sp>
        <p:nvSpPr>
          <p:cNvPr id="4" name="TextBox 3"/>
          <p:cNvSpPr txBox="1"/>
          <p:nvPr/>
        </p:nvSpPr>
        <p:spPr>
          <a:xfrm>
            <a:off x="457200" y="5623560"/>
            <a:ext cx="11155680" cy="1005840"/>
          </a:xfrm>
          <a:prstGeom prst="rect">
            <a:avLst/>
          </a:prstGeom>
          <a:noFill/>
        </p:spPr>
        <p:txBody>
          <a:bodyPr wrap="square">
            <a:spAutoFit/>
          </a:bodyPr>
          <a:lstStyle/>
          <a:p>
            <a:pPr>
              <a:defRPr sz="1000"/>
            </a:pPr>
            <a:r>
              <a:t>CypherMonkey Labs · © 2026 CypherMonkeyLabs</a:t>
            </a:r>
          </a:p>
          <a:p>
            <a:r>
              <a:t>Independent, free, learning-only student project. Respects every company and vendor. Trademarks belong to their owners. Not affiliated or endorsed. Names in the contact-center rooms are citations of pages opened in Octob</a:t>
            </a:r>
          </a:p>
        </p:txBody>
      </p:sp>
      <p:sp>
        <p:nvSpPr>
          <p:cNvPr id="5" name="TextBox 4">
            <a:hlinkClick r:id="rId2"/>
          </p:cNvPr>
          <p:cNvSpPr txBox="1"/>
          <p:nvPr/>
        </p:nvSpPr>
        <p:spPr>
          <a:xfrm>
            <a:off x="457200" y="6355080"/>
            <a:ext cx="2011680" cy="320040"/>
          </a:xfrm>
          <a:prstGeom prst="rect">
            <a:avLst/>
          </a:prstGeom>
          <a:noFill/>
        </p:spPr>
        <p:txBody>
          <a:bodyPr wrap="none">
            <a:spAutoFit/>
          </a:bodyPr>
          <a:lstStyle/>
          <a:p>
            <a:pPr>
              <a:defRPr sz="1200"/>
            </a:pPr>
            <a:r>
              <a:t>Website</a:t>
            </a:r>
          </a:p>
        </p:txBody>
      </p:sp>
      <p:sp>
        <p:nvSpPr>
          <p:cNvPr id="6" name="TextBox 5">
            <a:hlinkClick r:id="rId3"/>
          </p:cNvPr>
          <p:cNvSpPr txBox="1"/>
          <p:nvPr/>
        </p:nvSpPr>
        <p:spPr>
          <a:xfrm>
            <a:off x="2560320" y="6355080"/>
            <a:ext cx="2011680" cy="320040"/>
          </a:xfrm>
          <a:prstGeom prst="rect">
            <a:avLst/>
          </a:prstGeom>
          <a:noFill/>
        </p:spPr>
        <p:txBody>
          <a:bodyPr wrap="none">
            <a:spAutoFit/>
          </a:bodyPr>
          <a:lstStyle/>
          <a:p>
            <a:pPr>
              <a:defRPr sz="1200"/>
            </a:pPr>
            <a:r>
              <a:t>GitHub</a:t>
            </a:r>
          </a:p>
        </p:txBody>
      </p:sp>
      <p:sp>
        <p:nvSpPr>
          <p:cNvPr id="7" name="TextBox 6">
            <a:hlinkClick r:id="rId4"/>
          </p:cNvPr>
          <p:cNvSpPr txBox="1"/>
          <p:nvPr/>
        </p:nvSpPr>
        <p:spPr>
          <a:xfrm>
            <a:off x="4663440" y="6355080"/>
            <a:ext cx="2011680" cy="320040"/>
          </a:xfrm>
          <a:prstGeom prst="rect">
            <a:avLst/>
          </a:prstGeom>
          <a:noFill/>
        </p:spPr>
        <p:txBody>
          <a:bodyPr wrap="none">
            <a:spAutoFit/>
          </a:bodyPr>
          <a:lstStyle/>
          <a:p>
            <a:pPr>
              <a:defRPr sz="1200"/>
            </a:pPr>
            <a:r>
              <a:t>Profile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155680" cy="640080"/>
          </a:xfrm>
          <a:prstGeom prst="rect">
            <a:avLst/>
          </a:prstGeom>
          <a:noFill/>
        </p:spPr>
        <p:txBody>
          <a:bodyPr wrap="none">
            <a:spAutoFit/>
          </a:bodyPr>
          <a:lstStyle/>
          <a:p>
            <a:pPr>
              <a:defRPr sz="2800" b="1"/>
            </a:pPr>
            <a:r>
              <a:t>Sources and go deeper, continued</a:t>
            </a:r>
          </a:p>
        </p:txBody>
      </p:sp>
      <p:sp>
        <p:nvSpPr>
          <p:cNvPr id="3" name="TextBox 2"/>
          <p:cNvSpPr txBox="1"/>
          <p:nvPr/>
        </p:nvSpPr>
        <p:spPr>
          <a:xfrm>
            <a:off x="548640" y="1051560"/>
            <a:ext cx="10972800" cy="4297680"/>
          </a:xfrm>
          <a:prstGeom prst="rect">
            <a:avLst/>
          </a:prstGeom>
          <a:noFill/>
        </p:spPr>
        <p:txBody>
          <a:bodyPr wrap="square">
            <a:spAutoFit/>
          </a:bodyPr>
          <a:lstStyle/>
          <a:p>
            <a:pPr>
              <a:defRPr sz="1400"/>
            </a:pPr>
            <a:r>
              <a:t>OMG, about BPMN 2.0.2 (standard). https://www.omg.org/spec/BPMN/2.0.2/About-BPMN last checked 2026-10.</a:t>
            </a:r>
          </a:p>
          <a:p>
            <a:pPr>
              <a:defRPr sz="1400"/>
            </a:pPr>
            <a:r>
              <a:t>OMG, about UML 2.5.1 (standard). https://www.omg.org/spec/UML/2.5.1/About-UML last checked 2026-10.</a:t>
            </a:r>
          </a:p>
          <a:p>
            <a:pPr>
              <a:defRPr sz="1400"/>
            </a:pPr>
            <a:r>
              <a:t>UML 2.5.1 specification PDF (standard). https://www.omg.org/spec/UML/2.5.1/PDF last checked 2026-10.</a:t>
            </a:r>
          </a:p>
          <a:p>
            <a:pPr>
              <a:defRPr sz="1400"/>
            </a:pPr>
            <a:r>
              <a:t>IIBA membership (community). https://www.iiba.org/membership/ last checked 2026-10.</a:t>
            </a:r>
          </a:p>
          <a:p>
            <a:pPr>
              <a:defRPr sz="1400"/>
            </a:pPr>
            <a:r>
              <a:t>OMG managed communities (community). https://www.omg.org/communities/ last checked 2026-10.</a:t>
            </a:r>
          </a:p>
          <a:p>
            <a:pPr>
              <a:defRPr sz="1400"/>
            </a:pPr>
            <a:r>
              <a:t>NN/g, Journey Mapping 101 (official). https://www.nngroup.com/articles/journey-mapping-101/ last checked 2026-10.</a:t>
            </a:r>
          </a:p>
          <a:p>
            <a:pPr>
              <a:defRPr sz="1400"/>
            </a:pPr>
            <a:r>
              <a:t>Connect Customer feature overview (official). https://docs.aws.amazon.com/connect/latest/adminguide/connect-feature-overview.html last checked 2026-10.</a:t>
            </a:r>
          </a:p>
        </p:txBody>
      </p:sp>
      <p:sp>
        <p:nvSpPr>
          <p:cNvPr id="4" name="TextBox 3"/>
          <p:cNvSpPr txBox="1"/>
          <p:nvPr/>
        </p:nvSpPr>
        <p:spPr>
          <a:xfrm>
            <a:off x="457200" y="5623560"/>
            <a:ext cx="11155680" cy="1005840"/>
          </a:xfrm>
          <a:prstGeom prst="rect">
            <a:avLst/>
          </a:prstGeom>
          <a:noFill/>
        </p:spPr>
        <p:txBody>
          <a:bodyPr wrap="square">
            <a:spAutoFit/>
          </a:bodyPr>
          <a:lstStyle/>
          <a:p>
            <a:pPr>
              <a:defRPr sz="1000"/>
            </a:pPr>
            <a:r>
              <a:t>CypherMonkey Labs · © 2026 CypherMonkeyLabs</a:t>
            </a:r>
          </a:p>
          <a:p>
            <a:r>
              <a:t>Independent, free, learning-only student project. Respects every company and vendor. Trademarks belong to their owners. Not affiliated or endorsed. Names in the contact-center rooms are citations of pages opened in Octob</a:t>
            </a:r>
          </a:p>
        </p:txBody>
      </p:sp>
      <p:sp>
        <p:nvSpPr>
          <p:cNvPr id="5" name="TextBox 4">
            <a:hlinkClick r:id="rId2"/>
          </p:cNvPr>
          <p:cNvSpPr txBox="1"/>
          <p:nvPr/>
        </p:nvSpPr>
        <p:spPr>
          <a:xfrm>
            <a:off x="457200" y="6355080"/>
            <a:ext cx="2011680" cy="320040"/>
          </a:xfrm>
          <a:prstGeom prst="rect">
            <a:avLst/>
          </a:prstGeom>
          <a:noFill/>
        </p:spPr>
        <p:txBody>
          <a:bodyPr wrap="none">
            <a:spAutoFit/>
          </a:bodyPr>
          <a:lstStyle/>
          <a:p>
            <a:pPr>
              <a:defRPr sz="1200"/>
            </a:pPr>
            <a:r>
              <a:t>Website</a:t>
            </a:r>
          </a:p>
        </p:txBody>
      </p:sp>
      <p:sp>
        <p:nvSpPr>
          <p:cNvPr id="6" name="TextBox 5">
            <a:hlinkClick r:id="rId3"/>
          </p:cNvPr>
          <p:cNvSpPr txBox="1"/>
          <p:nvPr/>
        </p:nvSpPr>
        <p:spPr>
          <a:xfrm>
            <a:off x="2560320" y="6355080"/>
            <a:ext cx="2011680" cy="320040"/>
          </a:xfrm>
          <a:prstGeom prst="rect">
            <a:avLst/>
          </a:prstGeom>
          <a:noFill/>
        </p:spPr>
        <p:txBody>
          <a:bodyPr wrap="none">
            <a:spAutoFit/>
          </a:bodyPr>
          <a:lstStyle/>
          <a:p>
            <a:pPr>
              <a:defRPr sz="1200"/>
            </a:pPr>
            <a:r>
              <a:t>GitHub</a:t>
            </a:r>
          </a:p>
        </p:txBody>
      </p:sp>
      <p:sp>
        <p:nvSpPr>
          <p:cNvPr id="7" name="TextBox 6">
            <a:hlinkClick r:id="rId4"/>
          </p:cNvPr>
          <p:cNvSpPr txBox="1"/>
          <p:nvPr/>
        </p:nvSpPr>
        <p:spPr>
          <a:xfrm>
            <a:off x="4663440" y="6355080"/>
            <a:ext cx="2011680" cy="320040"/>
          </a:xfrm>
          <a:prstGeom prst="rect">
            <a:avLst/>
          </a:prstGeom>
          <a:noFill/>
        </p:spPr>
        <p:txBody>
          <a:bodyPr wrap="none">
            <a:spAutoFit/>
          </a:bodyPr>
          <a:lstStyle/>
          <a:p>
            <a:pPr>
              <a:defRPr sz="1200"/>
            </a:pPr>
            <a:r>
              <a:t>Profile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155680" cy="640080"/>
          </a:xfrm>
          <a:prstGeom prst="rect">
            <a:avLst/>
          </a:prstGeom>
          <a:noFill/>
        </p:spPr>
        <p:txBody>
          <a:bodyPr wrap="none">
            <a:spAutoFit/>
          </a:bodyPr>
          <a:lstStyle/>
          <a:p>
            <a:pPr>
              <a:defRPr sz="2800" b="1"/>
            </a:pPr>
            <a:r>
              <a:t>Sources and go deeper, continued</a:t>
            </a:r>
          </a:p>
        </p:txBody>
      </p:sp>
      <p:sp>
        <p:nvSpPr>
          <p:cNvPr id="3" name="TextBox 2"/>
          <p:cNvSpPr txBox="1"/>
          <p:nvPr/>
        </p:nvSpPr>
        <p:spPr>
          <a:xfrm>
            <a:off x="548640" y="1051560"/>
            <a:ext cx="10972800" cy="4297680"/>
          </a:xfrm>
          <a:prstGeom prst="rect">
            <a:avLst/>
          </a:prstGeom>
          <a:noFill/>
        </p:spPr>
        <p:txBody>
          <a:bodyPr wrap="square">
            <a:spAutoFit/>
          </a:bodyPr>
          <a:lstStyle/>
          <a:p>
            <a:pPr>
              <a:defRPr sz="1400"/>
            </a:pPr>
            <a:r>
              <a:t>Connect Customer, Set up WhatsApp Business messaging (official). https://docs.aws.amazon.com/connect/latest/adminguide/whatsapp-integration.html last checked 2026-10.</a:t>
            </a:r>
          </a:p>
        </p:txBody>
      </p:sp>
      <p:sp>
        <p:nvSpPr>
          <p:cNvPr id="4" name="TextBox 3"/>
          <p:cNvSpPr txBox="1"/>
          <p:nvPr/>
        </p:nvSpPr>
        <p:spPr>
          <a:xfrm>
            <a:off x="457200" y="5623560"/>
            <a:ext cx="11155680" cy="1005840"/>
          </a:xfrm>
          <a:prstGeom prst="rect">
            <a:avLst/>
          </a:prstGeom>
          <a:noFill/>
        </p:spPr>
        <p:txBody>
          <a:bodyPr wrap="square">
            <a:spAutoFit/>
          </a:bodyPr>
          <a:lstStyle/>
          <a:p>
            <a:pPr>
              <a:defRPr sz="1000"/>
            </a:pPr>
            <a:r>
              <a:t>CypherMonkey Labs · © 2026 CypherMonkeyLabs</a:t>
            </a:r>
          </a:p>
          <a:p>
            <a:r>
              <a:t>Independent, free, learning-only student project. Respects every company and vendor. Trademarks belong to their owners. Not affiliated or endorsed. Names in the contact-center rooms are citations of pages opened in Octob</a:t>
            </a:r>
          </a:p>
        </p:txBody>
      </p:sp>
      <p:sp>
        <p:nvSpPr>
          <p:cNvPr id="5" name="TextBox 4">
            <a:hlinkClick r:id="rId2"/>
          </p:cNvPr>
          <p:cNvSpPr txBox="1"/>
          <p:nvPr/>
        </p:nvSpPr>
        <p:spPr>
          <a:xfrm>
            <a:off x="457200" y="6355080"/>
            <a:ext cx="2011680" cy="320040"/>
          </a:xfrm>
          <a:prstGeom prst="rect">
            <a:avLst/>
          </a:prstGeom>
          <a:noFill/>
        </p:spPr>
        <p:txBody>
          <a:bodyPr wrap="none">
            <a:spAutoFit/>
          </a:bodyPr>
          <a:lstStyle/>
          <a:p>
            <a:pPr>
              <a:defRPr sz="1200"/>
            </a:pPr>
            <a:r>
              <a:t>Website</a:t>
            </a:r>
          </a:p>
        </p:txBody>
      </p:sp>
      <p:sp>
        <p:nvSpPr>
          <p:cNvPr id="6" name="TextBox 5">
            <a:hlinkClick r:id="rId3"/>
          </p:cNvPr>
          <p:cNvSpPr txBox="1"/>
          <p:nvPr/>
        </p:nvSpPr>
        <p:spPr>
          <a:xfrm>
            <a:off x="2560320" y="6355080"/>
            <a:ext cx="2011680" cy="320040"/>
          </a:xfrm>
          <a:prstGeom prst="rect">
            <a:avLst/>
          </a:prstGeom>
          <a:noFill/>
        </p:spPr>
        <p:txBody>
          <a:bodyPr wrap="none">
            <a:spAutoFit/>
          </a:bodyPr>
          <a:lstStyle/>
          <a:p>
            <a:pPr>
              <a:defRPr sz="1200"/>
            </a:pPr>
            <a:r>
              <a:t>GitHub</a:t>
            </a:r>
          </a:p>
        </p:txBody>
      </p:sp>
      <p:sp>
        <p:nvSpPr>
          <p:cNvPr id="7" name="TextBox 6">
            <a:hlinkClick r:id="rId4"/>
          </p:cNvPr>
          <p:cNvSpPr txBox="1"/>
          <p:nvPr/>
        </p:nvSpPr>
        <p:spPr>
          <a:xfrm>
            <a:off x="4663440" y="6355080"/>
            <a:ext cx="2011680" cy="320040"/>
          </a:xfrm>
          <a:prstGeom prst="rect">
            <a:avLst/>
          </a:prstGeom>
          <a:noFill/>
        </p:spPr>
        <p:txBody>
          <a:bodyPr wrap="none">
            <a:spAutoFit/>
          </a:bodyPr>
          <a:lstStyle/>
          <a:p>
            <a:pPr>
              <a:defRPr sz="1200"/>
            </a:pPr>
            <a:r>
              <a:t>Profile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